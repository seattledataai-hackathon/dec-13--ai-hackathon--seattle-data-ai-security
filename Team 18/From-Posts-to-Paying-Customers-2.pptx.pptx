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eague Spartan" charset="1" panose="00000800000000000000"/>
      <p:regular r:id="rId18"/>
    </p:embeddedFont>
    <p:embeddedFont>
      <p:font typeface="Agrandir Italics" charset="1" panose="00000500000000000000"/>
      <p:regular r:id="rId19"/>
    </p:embeddedFont>
    <p:embeddedFont>
      <p:font typeface="Agrandir Bold Italics" charset="1" panose="00000800000000000000"/>
      <p:regular r:id="rId20"/>
    </p:embeddedFont>
    <p:embeddedFont>
      <p:font typeface="Alexandria Bold" charset="1" panose="00000000000000000000"/>
      <p:regular r:id="rId22"/>
    </p:embeddedFont>
    <p:embeddedFont>
      <p:font typeface="Agrandir" charset="1" panose="00000500000000000000"/>
      <p:regular r:id="rId23"/>
    </p:embeddedFont>
    <p:embeddedFont>
      <p:font typeface="Agrandir Bold" charset="1" panose="00000800000000000000"/>
      <p:regular r:id="rId25"/>
    </p:embeddedFont>
    <p:embeddedFont>
      <p:font typeface="Alexandria" charset="1" panose="00000000000000000000"/>
      <p:regular r:id="rId27"/>
    </p:embeddedFont>
    <p:embeddedFont>
      <p:font typeface="Arimo Bold" charset="1" panose="020B0704020202020204"/>
      <p:regular r:id="rId30"/>
    </p:embeddedFont>
    <p:embeddedFont>
      <p:font typeface="Arimo" charset="1" panose="020B0604020202020204"/>
      <p:regular r:id="rId31"/>
    </p:embeddedFont>
    <p:embeddedFont>
      <p:font typeface="Arimo Bold Italics" charset="1" panose="020B070402020209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© Microsoft Corporation. All rights reserved. MICROSOFT MAKES NO WARRANTIES, EXPRESS, IMPLIED OR STATUTORY, AS TO THE INFORMATION IN THIS PRESENTATION.</a:t>
            </a:r>
          </a:p>
          <a:p>
            <a:r>
              <a:rPr lang="en-US"/>
              <a:t>9/18/2025 10:24 AM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14.png" Type="http://schemas.openxmlformats.org/officeDocument/2006/relationships/image"/><Relationship Id="rId8" Target="../media/image15.sv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B3E7FE">
                <a:alpha val="100000"/>
              </a:srgbClr>
            </a:gs>
            <a:gs pos="50000">
              <a:srgbClr val="C6D5FC">
                <a:alpha val="100000"/>
              </a:srgbClr>
            </a:gs>
            <a:gs pos="100000">
              <a:srgbClr val="B5DDFD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76300" y="878682"/>
            <a:ext cx="2049660" cy="438912"/>
            <a:chOff x="0" y="0"/>
            <a:chExt cx="2732880" cy="585216"/>
          </a:xfrm>
        </p:grpSpPr>
        <p:sp>
          <p:nvSpPr>
            <p:cNvPr name="Freeform 3" id="3" descr="Microsoft logo, gray text version"/>
            <p:cNvSpPr/>
            <p:nvPr/>
          </p:nvSpPr>
          <p:spPr>
            <a:xfrm flipH="false" flipV="false" rot="0">
              <a:off x="0" y="0"/>
              <a:ext cx="2732913" cy="585216"/>
            </a:xfrm>
            <a:custGeom>
              <a:avLst/>
              <a:gdLst/>
              <a:ahLst/>
              <a:cxnLst/>
              <a:rect r="r" b="b" t="t" l="l"/>
              <a:pathLst>
                <a:path h="585216" w="2732913">
                  <a:moveTo>
                    <a:pt x="0" y="0"/>
                  </a:moveTo>
                  <a:lnTo>
                    <a:pt x="2732913" y="0"/>
                  </a:lnTo>
                  <a:lnTo>
                    <a:pt x="2732913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28700" y="6988418"/>
            <a:ext cx="7123712" cy="1324356"/>
            <a:chOff x="0" y="0"/>
            <a:chExt cx="9498283" cy="17658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498283" cy="1765808"/>
            </a:xfrm>
            <a:custGeom>
              <a:avLst/>
              <a:gdLst/>
              <a:ahLst/>
              <a:cxnLst/>
              <a:rect r="r" b="b" t="t" l="l"/>
              <a:pathLst>
                <a:path h="1765808" w="9498283">
                  <a:moveTo>
                    <a:pt x="0" y="0"/>
                  </a:moveTo>
                  <a:lnTo>
                    <a:pt x="9498283" y="0"/>
                  </a:lnTo>
                  <a:lnTo>
                    <a:pt x="9498283" y="1765808"/>
                  </a:lnTo>
                  <a:lnTo>
                    <a:pt x="0" y="176580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9498283" cy="177533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spc="-75">
                  <a:solidFill>
                    <a:srgbClr val="243F6E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Co-Creator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8236574"/>
            <a:ext cx="1094888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n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AI C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o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-C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re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ator for cr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e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at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ive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s and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s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m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ll bus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i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ness 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o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w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n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ers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wh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o 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w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an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t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to t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ur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n the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ir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p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ss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i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o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n i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n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t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o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 s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u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st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in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abl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e 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r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even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u</a:t>
            </a:r>
            <a:r>
              <a:rPr lang="en-US" sz="2700" i="true" strike="noStrike" u="none">
                <a:solidFill>
                  <a:srgbClr val="243F6E"/>
                </a:solidFill>
                <a:latin typeface="Agrandir Italics"/>
                <a:ea typeface="Agrandir Italics"/>
                <a:cs typeface="Agrandir Italics"/>
                <a:sym typeface="Agrandir Italics"/>
              </a:rPr>
              <a:t>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502643"/>
            <a:ext cx="1094888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700" i="true">
                <a:solidFill>
                  <a:srgbClr val="243F6E"/>
                </a:solidFill>
                <a:latin typeface="Agrandir Bold Italics"/>
                <a:ea typeface="Agrandir Bold Italics"/>
                <a:cs typeface="Agrandir Bold Italics"/>
                <a:sym typeface="Agrandir Bold Italics"/>
              </a:rPr>
              <a:t>Team 18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216718"/>
            <a:ext cx="16406218" cy="6234565"/>
            <a:chOff x="0" y="0"/>
            <a:chExt cx="12965113" cy="492690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65176" cy="4926824"/>
            </a:xfrm>
            <a:custGeom>
              <a:avLst/>
              <a:gdLst/>
              <a:ahLst/>
              <a:cxnLst/>
              <a:rect r="r" b="b" t="t" l="l"/>
              <a:pathLst>
                <a:path h="4926824" w="12965176">
                  <a:moveTo>
                    <a:pt x="0" y="306014"/>
                  </a:moveTo>
                  <a:cubicBezTo>
                    <a:pt x="0" y="137069"/>
                    <a:pt x="81915" y="0"/>
                    <a:pt x="182880" y="0"/>
                  </a:cubicBezTo>
                  <a:lnTo>
                    <a:pt x="12782297" y="0"/>
                  </a:lnTo>
                  <a:cubicBezTo>
                    <a:pt x="12883261" y="0"/>
                    <a:pt x="12965176" y="137069"/>
                    <a:pt x="12965176" y="306014"/>
                  </a:cubicBezTo>
                  <a:lnTo>
                    <a:pt x="12965176" y="4620810"/>
                  </a:lnTo>
                  <a:cubicBezTo>
                    <a:pt x="12965176" y="4789755"/>
                    <a:pt x="12883261" y="4926824"/>
                    <a:pt x="12782297" y="4926824"/>
                  </a:cubicBezTo>
                  <a:lnTo>
                    <a:pt x="182880" y="4926824"/>
                  </a:lnTo>
                  <a:cubicBezTo>
                    <a:pt x="81915" y="4926824"/>
                    <a:pt x="0" y="4789755"/>
                    <a:pt x="0" y="462081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3E7FE">
                    <a:alpha val="100000"/>
                  </a:srgbClr>
                </a:gs>
                <a:gs pos="50000">
                  <a:srgbClr val="C6D5FC">
                    <a:alpha val="100000"/>
                  </a:srgbClr>
                </a:gs>
                <a:gs pos="100000">
                  <a:srgbClr val="B5DDF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536962" y="2847716"/>
            <a:ext cx="15625749" cy="2258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172">
                <a:solidFill>
                  <a:srgbClr val="5B6E8C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Most Creators Don't Fail Because Their Product Isn't Good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36962" y="5359171"/>
            <a:ext cx="15625749" cy="265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3"/>
              </a:lnSpc>
            </a:pPr>
            <a:r>
              <a:rPr lang="en-US" sz="3191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They fail because marketing is confusing, time-consuming, and doesn't translate into sales. Social engagement doesn't equal revenue, and every platform promises results without delivering real strategy.</a:t>
            </a:r>
          </a:p>
          <a:p>
            <a:pPr algn="l">
              <a:lnSpc>
                <a:spcPts val="5212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2225" y="5456925"/>
            <a:ext cx="7859175" cy="3193371"/>
            <a:chOff x="0" y="0"/>
            <a:chExt cx="10478900" cy="4257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223" y="6239"/>
              <a:ext cx="10466484" cy="4245310"/>
            </a:xfrm>
            <a:custGeom>
              <a:avLst/>
              <a:gdLst/>
              <a:ahLst/>
              <a:cxnLst/>
              <a:rect r="r" b="b" t="t" l="l"/>
              <a:pathLst>
                <a:path h="4245310" w="10466484">
                  <a:moveTo>
                    <a:pt x="0" y="557182"/>
                  </a:moveTo>
                  <a:cubicBezTo>
                    <a:pt x="0" y="249453"/>
                    <a:pt x="249297" y="0"/>
                    <a:pt x="556717" y="0"/>
                  </a:cubicBezTo>
                  <a:lnTo>
                    <a:pt x="9909768" y="0"/>
                  </a:lnTo>
                  <a:cubicBezTo>
                    <a:pt x="10217188" y="0"/>
                    <a:pt x="10466484" y="249453"/>
                    <a:pt x="10466484" y="557182"/>
                  </a:cubicBezTo>
                  <a:lnTo>
                    <a:pt x="10466484" y="3688129"/>
                  </a:lnTo>
                  <a:cubicBezTo>
                    <a:pt x="10466484" y="3995858"/>
                    <a:pt x="10217188" y="4245310"/>
                    <a:pt x="9909768" y="4245310"/>
                  </a:cubicBezTo>
                  <a:lnTo>
                    <a:pt x="556717" y="4245310"/>
                  </a:lnTo>
                  <a:cubicBezTo>
                    <a:pt x="249297" y="4245310"/>
                    <a:pt x="0" y="3995858"/>
                    <a:pt x="0" y="3688129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78931" cy="4257789"/>
            </a:xfrm>
            <a:custGeom>
              <a:avLst/>
              <a:gdLst/>
              <a:ahLst/>
              <a:cxnLst/>
              <a:rect r="r" b="b" t="t" l="l"/>
              <a:pathLst>
                <a:path h="4257789" w="10478931">
                  <a:moveTo>
                    <a:pt x="0" y="563421"/>
                  </a:moveTo>
                  <a:cubicBezTo>
                    <a:pt x="0" y="252198"/>
                    <a:pt x="252035" y="0"/>
                    <a:pt x="562940" y="0"/>
                  </a:cubicBezTo>
                  <a:lnTo>
                    <a:pt x="9915991" y="0"/>
                  </a:lnTo>
                  <a:lnTo>
                    <a:pt x="9915991" y="6239"/>
                  </a:lnTo>
                  <a:lnTo>
                    <a:pt x="9915991" y="0"/>
                  </a:lnTo>
                  <a:cubicBezTo>
                    <a:pt x="10226896" y="0"/>
                    <a:pt x="10478931" y="252198"/>
                    <a:pt x="10478931" y="563421"/>
                  </a:cubicBezTo>
                  <a:lnTo>
                    <a:pt x="10472707" y="563421"/>
                  </a:lnTo>
                  <a:lnTo>
                    <a:pt x="10478931" y="563421"/>
                  </a:lnTo>
                  <a:lnTo>
                    <a:pt x="10478931" y="3694368"/>
                  </a:lnTo>
                  <a:lnTo>
                    <a:pt x="10472707" y="3694368"/>
                  </a:lnTo>
                  <a:lnTo>
                    <a:pt x="10478931" y="3694368"/>
                  </a:lnTo>
                  <a:cubicBezTo>
                    <a:pt x="10478931" y="4005591"/>
                    <a:pt x="10226896" y="4257789"/>
                    <a:pt x="9915991" y="4257789"/>
                  </a:cubicBezTo>
                  <a:lnTo>
                    <a:pt x="9915991" y="4251549"/>
                  </a:lnTo>
                  <a:lnTo>
                    <a:pt x="9915991" y="4257789"/>
                  </a:lnTo>
                  <a:lnTo>
                    <a:pt x="562940" y="4257789"/>
                  </a:lnTo>
                  <a:lnTo>
                    <a:pt x="562940" y="4251549"/>
                  </a:lnTo>
                  <a:lnTo>
                    <a:pt x="562940" y="4257789"/>
                  </a:lnTo>
                  <a:cubicBezTo>
                    <a:pt x="252035" y="4257789"/>
                    <a:pt x="0" y="4005591"/>
                    <a:pt x="0" y="3694368"/>
                  </a:cubicBezTo>
                  <a:lnTo>
                    <a:pt x="0" y="563421"/>
                  </a:lnTo>
                  <a:lnTo>
                    <a:pt x="6223" y="563421"/>
                  </a:lnTo>
                  <a:lnTo>
                    <a:pt x="0" y="563421"/>
                  </a:lnTo>
                  <a:moveTo>
                    <a:pt x="12446" y="563421"/>
                  </a:moveTo>
                  <a:lnTo>
                    <a:pt x="12446" y="3694368"/>
                  </a:lnTo>
                  <a:lnTo>
                    <a:pt x="6223" y="3694368"/>
                  </a:lnTo>
                  <a:lnTo>
                    <a:pt x="12446" y="3694368"/>
                  </a:lnTo>
                  <a:cubicBezTo>
                    <a:pt x="12446" y="3998603"/>
                    <a:pt x="258880" y="4245310"/>
                    <a:pt x="562940" y="4245310"/>
                  </a:cubicBezTo>
                  <a:lnTo>
                    <a:pt x="9915991" y="4245310"/>
                  </a:lnTo>
                  <a:cubicBezTo>
                    <a:pt x="10220051" y="4245310"/>
                    <a:pt x="10466484" y="3998603"/>
                    <a:pt x="10466484" y="3694368"/>
                  </a:cubicBezTo>
                  <a:lnTo>
                    <a:pt x="10466484" y="563421"/>
                  </a:lnTo>
                  <a:cubicBezTo>
                    <a:pt x="10466484" y="259186"/>
                    <a:pt x="10220051" y="12479"/>
                    <a:pt x="9915991" y="12479"/>
                  </a:cubicBezTo>
                  <a:lnTo>
                    <a:pt x="562940" y="12479"/>
                  </a:lnTo>
                  <a:lnTo>
                    <a:pt x="562940" y="6239"/>
                  </a:lnTo>
                  <a:lnTo>
                    <a:pt x="562940" y="12479"/>
                  </a:lnTo>
                  <a:cubicBezTo>
                    <a:pt x="258880" y="12479"/>
                    <a:pt x="12446" y="259186"/>
                    <a:pt x="12446" y="563421"/>
                  </a:cubicBezTo>
                  <a:close/>
                </a:path>
              </a:pathLst>
            </a:custGeom>
            <a:solidFill>
              <a:srgbClr val="B3D5E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9019916" y="5456925"/>
            <a:ext cx="7859175" cy="3193371"/>
            <a:chOff x="0" y="0"/>
            <a:chExt cx="10478900" cy="42578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223" y="6239"/>
              <a:ext cx="10466484" cy="4245310"/>
            </a:xfrm>
            <a:custGeom>
              <a:avLst/>
              <a:gdLst/>
              <a:ahLst/>
              <a:cxnLst/>
              <a:rect r="r" b="b" t="t" l="l"/>
              <a:pathLst>
                <a:path h="4245310" w="10466484">
                  <a:moveTo>
                    <a:pt x="0" y="557182"/>
                  </a:moveTo>
                  <a:cubicBezTo>
                    <a:pt x="0" y="249453"/>
                    <a:pt x="249297" y="0"/>
                    <a:pt x="556717" y="0"/>
                  </a:cubicBezTo>
                  <a:lnTo>
                    <a:pt x="9909768" y="0"/>
                  </a:lnTo>
                  <a:cubicBezTo>
                    <a:pt x="10217188" y="0"/>
                    <a:pt x="10466484" y="249453"/>
                    <a:pt x="10466484" y="557182"/>
                  </a:cubicBezTo>
                  <a:lnTo>
                    <a:pt x="10466484" y="3688129"/>
                  </a:lnTo>
                  <a:cubicBezTo>
                    <a:pt x="10466484" y="3995858"/>
                    <a:pt x="10217188" y="4245310"/>
                    <a:pt x="9909768" y="4245310"/>
                  </a:cubicBezTo>
                  <a:lnTo>
                    <a:pt x="556717" y="4245310"/>
                  </a:lnTo>
                  <a:cubicBezTo>
                    <a:pt x="249297" y="4245310"/>
                    <a:pt x="0" y="3995858"/>
                    <a:pt x="0" y="3688129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478931" cy="4257789"/>
            </a:xfrm>
            <a:custGeom>
              <a:avLst/>
              <a:gdLst/>
              <a:ahLst/>
              <a:cxnLst/>
              <a:rect r="r" b="b" t="t" l="l"/>
              <a:pathLst>
                <a:path h="4257789" w="10478931">
                  <a:moveTo>
                    <a:pt x="0" y="563421"/>
                  </a:moveTo>
                  <a:cubicBezTo>
                    <a:pt x="0" y="252198"/>
                    <a:pt x="252035" y="0"/>
                    <a:pt x="562940" y="0"/>
                  </a:cubicBezTo>
                  <a:lnTo>
                    <a:pt x="9915991" y="0"/>
                  </a:lnTo>
                  <a:lnTo>
                    <a:pt x="9915991" y="6239"/>
                  </a:lnTo>
                  <a:lnTo>
                    <a:pt x="9915991" y="0"/>
                  </a:lnTo>
                  <a:cubicBezTo>
                    <a:pt x="10226896" y="0"/>
                    <a:pt x="10478931" y="252198"/>
                    <a:pt x="10478931" y="563421"/>
                  </a:cubicBezTo>
                  <a:lnTo>
                    <a:pt x="10472707" y="563421"/>
                  </a:lnTo>
                  <a:lnTo>
                    <a:pt x="10478931" y="563421"/>
                  </a:lnTo>
                  <a:lnTo>
                    <a:pt x="10478931" y="3694368"/>
                  </a:lnTo>
                  <a:lnTo>
                    <a:pt x="10472707" y="3694368"/>
                  </a:lnTo>
                  <a:lnTo>
                    <a:pt x="10478931" y="3694368"/>
                  </a:lnTo>
                  <a:cubicBezTo>
                    <a:pt x="10478931" y="4005591"/>
                    <a:pt x="10226896" y="4257789"/>
                    <a:pt x="9915991" y="4257789"/>
                  </a:cubicBezTo>
                  <a:lnTo>
                    <a:pt x="9915991" y="4251549"/>
                  </a:lnTo>
                  <a:lnTo>
                    <a:pt x="9915991" y="4257789"/>
                  </a:lnTo>
                  <a:lnTo>
                    <a:pt x="562940" y="4257789"/>
                  </a:lnTo>
                  <a:lnTo>
                    <a:pt x="562940" y="4251549"/>
                  </a:lnTo>
                  <a:lnTo>
                    <a:pt x="562940" y="4257789"/>
                  </a:lnTo>
                  <a:cubicBezTo>
                    <a:pt x="252035" y="4257789"/>
                    <a:pt x="0" y="4005591"/>
                    <a:pt x="0" y="3694368"/>
                  </a:cubicBezTo>
                  <a:lnTo>
                    <a:pt x="0" y="563421"/>
                  </a:lnTo>
                  <a:lnTo>
                    <a:pt x="6223" y="563421"/>
                  </a:lnTo>
                  <a:lnTo>
                    <a:pt x="0" y="563421"/>
                  </a:lnTo>
                  <a:moveTo>
                    <a:pt x="12446" y="563421"/>
                  </a:moveTo>
                  <a:lnTo>
                    <a:pt x="12446" y="3694368"/>
                  </a:lnTo>
                  <a:lnTo>
                    <a:pt x="6223" y="3694368"/>
                  </a:lnTo>
                  <a:lnTo>
                    <a:pt x="12446" y="3694368"/>
                  </a:lnTo>
                  <a:cubicBezTo>
                    <a:pt x="12446" y="3998603"/>
                    <a:pt x="258880" y="4245310"/>
                    <a:pt x="562940" y="4245310"/>
                  </a:cubicBezTo>
                  <a:lnTo>
                    <a:pt x="9915991" y="4245310"/>
                  </a:lnTo>
                  <a:cubicBezTo>
                    <a:pt x="10220051" y="4245310"/>
                    <a:pt x="10466484" y="3998603"/>
                    <a:pt x="10466484" y="3694368"/>
                  </a:cubicBezTo>
                  <a:lnTo>
                    <a:pt x="10466484" y="563421"/>
                  </a:lnTo>
                  <a:cubicBezTo>
                    <a:pt x="10466484" y="259186"/>
                    <a:pt x="10220051" y="12479"/>
                    <a:pt x="9915991" y="12479"/>
                  </a:cubicBezTo>
                  <a:lnTo>
                    <a:pt x="562940" y="12479"/>
                  </a:lnTo>
                  <a:lnTo>
                    <a:pt x="562940" y="6239"/>
                  </a:lnTo>
                  <a:lnTo>
                    <a:pt x="562940" y="12479"/>
                  </a:lnTo>
                  <a:cubicBezTo>
                    <a:pt x="258880" y="12479"/>
                    <a:pt x="12446" y="259186"/>
                    <a:pt x="12446" y="563421"/>
                  </a:cubicBezTo>
                  <a:close/>
                </a:path>
              </a:pathLst>
            </a:custGeom>
            <a:solidFill>
              <a:srgbClr val="B3D5E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32626" y="2375644"/>
            <a:ext cx="7859175" cy="2881256"/>
            <a:chOff x="0" y="0"/>
            <a:chExt cx="10478900" cy="38416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223" y="5630"/>
              <a:ext cx="10466484" cy="3830380"/>
            </a:xfrm>
            <a:custGeom>
              <a:avLst/>
              <a:gdLst/>
              <a:ahLst/>
              <a:cxnLst/>
              <a:rect r="r" b="b" t="t" l="l"/>
              <a:pathLst>
                <a:path h="3830380" w="10466484">
                  <a:moveTo>
                    <a:pt x="0" y="502723"/>
                  </a:moveTo>
                  <a:cubicBezTo>
                    <a:pt x="0" y="225071"/>
                    <a:pt x="249297" y="0"/>
                    <a:pt x="556717" y="0"/>
                  </a:cubicBezTo>
                  <a:lnTo>
                    <a:pt x="9909768" y="0"/>
                  </a:lnTo>
                  <a:cubicBezTo>
                    <a:pt x="10217188" y="0"/>
                    <a:pt x="10466484" y="225071"/>
                    <a:pt x="10466484" y="502723"/>
                  </a:cubicBezTo>
                  <a:lnTo>
                    <a:pt x="10466484" y="3327656"/>
                  </a:lnTo>
                  <a:cubicBezTo>
                    <a:pt x="10466484" y="3605308"/>
                    <a:pt x="10217188" y="3830380"/>
                    <a:pt x="9909768" y="3830380"/>
                  </a:cubicBezTo>
                  <a:lnTo>
                    <a:pt x="556717" y="3830380"/>
                  </a:lnTo>
                  <a:cubicBezTo>
                    <a:pt x="249297" y="3830380"/>
                    <a:pt x="0" y="3605308"/>
                    <a:pt x="0" y="3327656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78931" cy="3841639"/>
            </a:xfrm>
            <a:custGeom>
              <a:avLst/>
              <a:gdLst/>
              <a:ahLst/>
              <a:cxnLst/>
              <a:rect r="r" b="b" t="t" l="l"/>
              <a:pathLst>
                <a:path h="3841639" w="10478931">
                  <a:moveTo>
                    <a:pt x="0" y="508353"/>
                  </a:moveTo>
                  <a:cubicBezTo>
                    <a:pt x="0" y="227548"/>
                    <a:pt x="252035" y="0"/>
                    <a:pt x="562940" y="0"/>
                  </a:cubicBezTo>
                  <a:lnTo>
                    <a:pt x="9915991" y="0"/>
                  </a:lnTo>
                  <a:lnTo>
                    <a:pt x="9915991" y="5630"/>
                  </a:lnTo>
                  <a:lnTo>
                    <a:pt x="9915991" y="0"/>
                  </a:lnTo>
                  <a:cubicBezTo>
                    <a:pt x="10226896" y="0"/>
                    <a:pt x="10478931" y="227548"/>
                    <a:pt x="10478931" y="508353"/>
                  </a:cubicBezTo>
                  <a:lnTo>
                    <a:pt x="10472707" y="508353"/>
                  </a:lnTo>
                  <a:lnTo>
                    <a:pt x="10478931" y="508353"/>
                  </a:lnTo>
                  <a:lnTo>
                    <a:pt x="10478931" y="3333286"/>
                  </a:lnTo>
                  <a:lnTo>
                    <a:pt x="10472707" y="3333286"/>
                  </a:lnTo>
                  <a:lnTo>
                    <a:pt x="10478931" y="3333286"/>
                  </a:lnTo>
                  <a:cubicBezTo>
                    <a:pt x="10478931" y="3614090"/>
                    <a:pt x="10226896" y="3841639"/>
                    <a:pt x="9915991" y="3841639"/>
                  </a:cubicBezTo>
                  <a:lnTo>
                    <a:pt x="9915991" y="3836010"/>
                  </a:lnTo>
                  <a:lnTo>
                    <a:pt x="9915991" y="3841639"/>
                  </a:lnTo>
                  <a:lnTo>
                    <a:pt x="562940" y="3841639"/>
                  </a:lnTo>
                  <a:lnTo>
                    <a:pt x="562940" y="3836010"/>
                  </a:lnTo>
                  <a:lnTo>
                    <a:pt x="562940" y="3841639"/>
                  </a:lnTo>
                  <a:cubicBezTo>
                    <a:pt x="252035" y="3841639"/>
                    <a:pt x="0" y="3614090"/>
                    <a:pt x="0" y="3333286"/>
                  </a:cubicBezTo>
                  <a:lnTo>
                    <a:pt x="0" y="508353"/>
                  </a:lnTo>
                  <a:lnTo>
                    <a:pt x="6223" y="508353"/>
                  </a:lnTo>
                  <a:lnTo>
                    <a:pt x="0" y="508353"/>
                  </a:lnTo>
                  <a:moveTo>
                    <a:pt x="12446" y="508353"/>
                  </a:moveTo>
                  <a:lnTo>
                    <a:pt x="12446" y="3333286"/>
                  </a:lnTo>
                  <a:lnTo>
                    <a:pt x="6223" y="3333286"/>
                  </a:lnTo>
                  <a:lnTo>
                    <a:pt x="12446" y="3333286"/>
                  </a:lnTo>
                  <a:cubicBezTo>
                    <a:pt x="12446" y="3607785"/>
                    <a:pt x="258880" y="3830380"/>
                    <a:pt x="562940" y="3830380"/>
                  </a:cubicBezTo>
                  <a:lnTo>
                    <a:pt x="9915991" y="3830380"/>
                  </a:lnTo>
                  <a:cubicBezTo>
                    <a:pt x="10220051" y="3830380"/>
                    <a:pt x="10466484" y="3607785"/>
                    <a:pt x="10466484" y="3333286"/>
                  </a:cubicBezTo>
                  <a:lnTo>
                    <a:pt x="10466484" y="508353"/>
                  </a:lnTo>
                  <a:cubicBezTo>
                    <a:pt x="10466484" y="233854"/>
                    <a:pt x="10220051" y="11259"/>
                    <a:pt x="9915991" y="11259"/>
                  </a:cubicBezTo>
                  <a:lnTo>
                    <a:pt x="562940" y="11259"/>
                  </a:lnTo>
                  <a:lnTo>
                    <a:pt x="562940" y="5630"/>
                  </a:lnTo>
                  <a:lnTo>
                    <a:pt x="562940" y="11259"/>
                  </a:lnTo>
                  <a:cubicBezTo>
                    <a:pt x="258880" y="11259"/>
                    <a:pt x="12446" y="233854"/>
                    <a:pt x="12446" y="508353"/>
                  </a:cubicBezTo>
                  <a:close/>
                </a:path>
              </a:pathLst>
            </a:custGeom>
            <a:solidFill>
              <a:srgbClr val="B3D5E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060317" y="2375644"/>
            <a:ext cx="7859175" cy="2881256"/>
            <a:chOff x="0" y="0"/>
            <a:chExt cx="10478900" cy="38416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223" y="5630"/>
              <a:ext cx="10466484" cy="3830380"/>
            </a:xfrm>
            <a:custGeom>
              <a:avLst/>
              <a:gdLst/>
              <a:ahLst/>
              <a:cxnLst/>
              <a:rect r="r" b="b" t="t" l="l"/>
              <a:pathLst>
                <a:path h="3830380" w="10466484">
                  <a:moveTo>
                    <a:pt x="0" y="502723"/>
                  </a:moveTo>
                  <a:cubicBezTo>
                    <a:pt x="0" y="225071"/>
                    <a:pt x="249297" y="0"/>
                    <a:pt x="556717" y="0"/>
                  </a:cubicBezTo>
                  <a:lnTo>
                    <a:pt x="9909768" y="0"/>
                  </a:lnTo>
                  <a:cubicBezTo>
                    <a:pt x="10217188" y="0"/>
                    <a:pt x="10466484" y="225071"/>
                    <a:pt x="10466484" y="502723"/>
                  </a:cubicBezTo>
                  <a:lnTo>
                    <a:pt x="10466484" y="3327656"/>
                  </a:lnTo>
                  <a:cubicBezTo>
                    <a:pt x="10466484" y="3605308"/>
                    <a:pt x="10217188" y="3830380"/>
                    <a:pt x="9909768" y="3830380"/>
                  </a:cubicBezTo>
                  <a:lnTo>
                    <a:pt x="556717" y="3830380"/>
                  </a:lnTo>
                  <a:cubicBezTo>
                    <a:pt x="249297" y="3830380"/>
                    <a:pt x="0" y="3605308"/>
                    <a:pt x="0" y="3327656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78931" cy="3841639"/>
            </a:xfrm>
            <a:custGeom>
              <a:avLst/>
              <a:gdLst/>
              <a:ahLst/>
              <a:cxnLst/>
              <a:rect r="r" b="b" t="t" l="l"/>
              <a:pathLst>
                <a:path h="3841639" w="10478931">
                  <a:moveTo>
                    <a:pt x="0" y="508353"/>
                  </a:moveTo>
                  <a:cubicBezTo>
                    <a:pt x="0" y="227548"/>
                    <a:pt x="252035" y="0"/>
                    <a:pt x="562940" y="0"/>
                  </a:cubicBezTo>
                  <a:lnTo>
                    <a:pt x="9915991" y="0"/>
                  </a:lnTo>
                  <a:lnTo>
                    <a:pt x="9915991" y="5630"/>
                  </a:lnTo>
                  <a:lnTo>
                    <a:pt x="9915991" y="0"/>
                  </a:lnTo>
                  <a:cubicBezTo>
                    <a:pt x="10226896" y="0"/>
                    <a:pt x="10478931" y="227548"/>
                    <a:pt x="10478931" y="508353"/>
                  </a:cubicBezTo>
                  <a:lnTo>
                    <a:pt x="10472707" y="508353"/>
                  </a:lnTo>
                  <a:lnTo>
                    <a:pt x="10478931" y="508353"/>
                  </a:lnTo>
                  <a:lnTo>
                    <a:pt x="10478931" y="3333286"/>
                  </a:lnTo>
                  <a:lnTo>
                    <a:pt x="10472707" y="3333286"/>
                  </a:lnTo>
                  <a:lnTo>
                    <a:pt x="10478931" y="3333286"/>
                  </a:lnTo>
                  <a:cubicBezTo>
                    <a:pt x="10478931" y="3614090"/>
                    <a:pt x="10226896" y="3841639"/>
                    <a:pt x="9915991" y="3841639"/>
                  </a:cubicBezTo>
                  <a:lnTo>
                    <a:pt x="9915991" y="3836010"/>
                  </a:lnTo>
                  <a:lnTo>
                    <a:pt x="9915991" y="3841639"/>
                  </a:lnTo>
                  <a:lnTo>
                    <a:pt x="562940" y="3841639"/>
                  </a:lnTo>
                  <a:lnTo>
                    <a:pt x="562940" y="3836010"/>
                  </a:lnTo>
                  <a:lnTo>
                    <a:pt x="562940" y="3841639"/>
                  </a:lnTo>
                  <a:cubicBezTo>
                    <a:pt x="252035" y="3841639"/>
                    <a:pt x="0" y="3614090"/>
                    <a:pt x="0" y="3333286"/>
                  </a:cubicBezTo>
                  <a:lnTo>
                    <a:pt x="0" y="508353"/>
                  </a:lnTo>
                  <a:lnTo>
                    <a:pt x="6223" y="508353"/>
                  </a:lnTo>
                  <a:lnTo>
                    <a:pt x="0" y="508353"/>
                  </a:lnTo>
                  <a:moveTo>
                    <a:pt x="12446" y="508353"/>
                  </a:moveTo>
                  <a:lnTo>
                    <a:pt x="12446" y="3333286"/>
                  </a:lnTo>
                  <a:lnTo>
                    <a:pt x="6223" y="3333286"/>
                  </a:lnTo>
                  <a:lnTo>
                    <a:pt x="12446" y="3333286"/>
                  </a:lnTo>
                  <a:cubicBezTo>
                    <a:pt x="12446" y="3607785"/>
                    <a:pt x="258880" y="3830380"/>
                    <a:pt x="562940" y="3830380"/>
                  </a:cubicBezTo>
                  <a:lnTo>
                    <a:pt x="9915991" y="3830380"/>
                  </a:lnTo>
                  <a:cubicBezTo>
                    <a:pt x="10220051" y="3830380"/>
                    <a:pt x="10466484" y="3607785"/>
                    <a:pt x="10466484" y="3333286"/>
                  </a:cubicBezTo>
                  <a:lnTo>
                    <a:pt x="10466484" y="508353"/>
                  </a:lnTo>
                  <a:cubicBezTo>
                    <a:pt x="10466484" y="233854"/>
                    <a:pt x="10220051" y="11259"/>
                    <a:pt x="9915991" y="11259"/>
                  </a:cubicBezTo>
                  <a:lnTo>
                    <a:pt x="562940" y="11259"/>
                  </a:lnTo>
                  <a:lnTo>
                    <a:pt x="562940" y="5630"/>
                  </a:lnTo>
                  <a:lnTo>
                    <a:pt x="562940" y="11259"/>
                  </a:lnTo>
                  <a:cubicBezTo>
                    <a:pt x="258880" y="11259"/>
                    <a:pt x="12446" y="233854"/>
                    <a:pt x="12446" y="508353"/>
                  </a:cubicBezTo>
                  <a:close/>
                </a:path>
              </a:pathLst>
            </a:custGeom>
            <a:solidFill>
              <a:srgbClr val="B3D5E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31255" y="2537296"/>
            <a:ext cx="950134" cy="95013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3E7FE">
                    <a:alpha val="100000"/>
                  </a:srgbClr>
                </a:gs>
                <a:gs pos="50000">
                  <a:srgbClr val="C6D5FC">
                    <a:alpha val="100000"/>
                  </a:srgbClr>
                </a:gs>
                <a:gs pos="100000">
                  <a:srgbClr val="B5DDF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987475" y="1279326"/>
            <a:ext cx="3851300" cy="69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5B6E8C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The Problem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0030" y="6693776"/>
            <a:ext cx="4278437" cy="46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Time &amp; Cogn</a:t>
            </a:r>
            <a:r>
              <a:rPr lang="en-US" sz="255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itive Overload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4078" y="7260503"/>
            <a:ext cx="7315870" cy="108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Repet</a:t>
            </a: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itive marketing tasks lead to burnout and inconsistency.  Creators spend more time managing tools than creating.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311769" y="6756440"/>
            <a:ext cx="5182642" cy="46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Loc</a:t>
            </a:r>
            <a:r>
              <a:rPr lang="en-US" sz="255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al Opportunities Are Invisible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11769" y="7260503"/>
            <a:ext cx="7275469" cy="1087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Ev</a:t>
            </a: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ents, fairs, and partnerships are scattered and hard to discover. High-conversion, in-person opportunities are often missed entirely.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1255" y="3601730"/>
            <a:ext cx="4069556" cy="46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Marketing Is</a:t>
            </a:r>
            <a:r>
              <a:rPr lang="en-US" sz="255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 Fragmented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4479" y="4105793"/>
            <a:ext cx="7275469" cy="74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Too many</a:t>
            </a: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platforms, unclear priorities, constantly changing trends.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352994" y="3601730"/>
            <a:ext cx="3716238" cy="460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Effort Do</a:t>
            </a:r>
            <a:r>
              <a:rPr lang="en-US" sz="2550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esn't Convert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52170" y="4105793"/>
            <a:ext cx="7275469" cy="7450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</a:t>
            </a: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ikes ≠ customers. There’s no feedback loop connecting content to real sales or growth.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352170" y="2537296"/>
            <a:ext cx="950134" cy="95013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3E7FE">
                    <a:alpha val="100000"/>
                  </a:srgbClr>
                </a:gs>
                <a:gs pos="50000">
                  <a:srgbClr val="C6D5FC">
                    <a:alpha val="100000"/>
                  </a:srgbClr>
                </a:gs>
                <a:gs pos="100000">
                  <a:srgbClr val="B5DDF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311769" y="5632265"/>
            <a:ext cx="950134" cy="95013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3E7FE">
                    <a:alpha val="100000"/>
                  </a:srgbClr>
                </a:gs>
                <a:gs pos="50000">
                  <a:srgbClr val="C6D5FC">
                    <a:alpha val="100000"/>
                  </a:srgbClr>
                </a:gs>
                <a:gs pos="100000">
                  <a:srgbClr val="B5DDF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375979" y="2701043"/>
            <a:ext cx="578236" cy="578236"/>
          </a:xfrm>
          <a:custGeom>
            <a:avLst/>
            <a:gdLst/>
            <a:ahLst/>
            <a:cxnLst/>
            <a:rect r="r" b="b" t="t" l="l"/>
            <a:pathLst>
              <a:path h="578236" w="578236">
                <a:moveTo>
                  <a:pt x="0" y="0"/>
                </a:moveTo>
                <a:lnTo>
                  <a:pt x="578236" y="0"/>
                </a:lnTo>
                <a:lnTo>
                  <a:pt x="578236" y="578236"/>
                </a:lnTo>
                <a:lnTo>
                  <a:pt x="0" y="57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 descr="Stopwatch 75% with solid fill"/>
          <p:cNvSpPr/>
          <p:nvPr/>
        </p:nvSpPr>
        <p:spPr>
          <a:xfrm flipH="false" flipV="false" rot="0">
            <a:off x="9487017" y="2701043"/>
            <a:ext cx="680440" cy="680440"/>
          </a:xfrm>
          <a:custGeom>
            <a:avLst/>
            <a:gdLst/>
            <a:ahLst/>
            <a:cxnLst/>
            <a:rect r="r" b="b" t="t" l="l"/>
            <a:pathLst>
              <a:path h="680440" w="680440">
                <a:moveTo>
                  <a:pt x="0" y="0"/>
                </a:moveTo>
                <a:lnTo>
                  <a:pt x="680441" y="0"/>
                </a:lnTo>
                <a:lnTo>
                  <a:pt x="680441" y="680440"/>
                </a:lnTo>
                <a:lnTo>
                  <a:pt x="0" y="6804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 descr="Shield Tick with solid fill"/>
          <p:cNvSpPr/>
          <p:nvPr/>
        </p:nvSpPr>
        <p:spPr>
          <a:xfrm flipH="false" flipV="false" rot="0">
            <a:off x="9431230" y="5808625"/>
            <a:ext cx="711212" cy="711212"/>
          </a:xfrm>
          <a:custGeom>
            <a:avLst/>
            <a:gdLst/>
            <a:ahLst/>
            <a:cxnLst/>
            <a:rect r="r" b="b" t="t" l="l"/>
            <a:pathLst>
              <a:path h="711212" w="711212">
                <a:moveTo>
                  <a:pt x="0" y="0"/>
                </a:moveTo>
                <a:lnTo>
                  <a:pt x="711212" y="0"/>
                </a:lnTo>
                <a:lnTo>
                  <a:pt x="711212" y="711212"/>
                </a:lnTo>
                <a:lnTo>
                  <a:pt x="0" y="7112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190030" y="5689164"/>
            <a:ext cx="950134" cy="950134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3E7FE">
                    <a:alpha val="100000"/>
                  </a:srgbClr>
                </a:gs>
                <a:gs pos="50000">
                  <a:srgbClr val="C6D5FC">
                    <a:alpha val="100000"/>
                  </a:srgbClr>
                </a:gs>
                <a:gs pos="100000">
                  <a:srgbClr val="B5DDF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62"/>
                </a:lnSpc>
              </a:pPr>
            </a:p>
          </p:txBody>
        </p:sp>
      </p:grpSp>
      <p:sp>
        <p:nvSpPr>
          <p:cNvPr name="Freeform 38" id="38" descr="Infinity with solid fill"/>
          <p:cNvSpPr/>
          <p:nvPr/>
        </p:nvSpPr>
        <p:spPr>
          <a:xfrm flipH="false" flipV="false" rot="0">
            <a:off x="1324877" y="5839396"/>
            <a:ext cx="680440" cy="680440"/>
          </a:xfrm>
          <a:custGeom>
            <a:avLst/>
            <a:gdLst/>
            <a:ahLst/>
            <a:cxnLst/>
            <a:rect r="r" b="b" t="t" l="l"/>
            <a:pathLst>
              <a:path h="680440" w="680440">
                <a:moveTo>
                  <a:pt x="0" y="0"/>
                </a:moveTo>
                <a:lnTo>
                  <a:pt x="680440" y="0"/>
                </a:lnTo>
                <a:lnTo>
                  <a:pt x="680440" y="680441"/>
                </a:lnTo>
                <a:lnTo>
                  <a:pt x="0" y="68044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0891" y="1525764"/>
            <a:ext cx="16406218" cy="7235472"/>
            <a:chOff x="0" y="0"/>
            <a:chExt cx="12965113" cy="57178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965176" cy="5717784"/>
            </a:xfrm>
            <a:custGeom>
              <a:avLst/>
              <a:gdLst/>
              <a:ahLst/>
              <a:cxnLst/>
              <a:rect r="r" b="b" t="t" l="l"/>
              <a:pathLst>
                <a:path h="5717784" w="12965176">
                  <a:moveTo>
                    <a:pt x="0" y="355142"/>
                  </a:moveTo>
                  <a:cubicBezTo>
                    <a:pt x="0" y="159074"/>
                    <a:pt x="81915" y="0"/>
                    <a:pt x="182880" y="0"/>
                  </a:cubicBezTo>
                  <a:lnTo>
                    <a:pt x="12782297" y="0"/>
                  </a:lnTo>
                  <a:cubicBezTo>
                    <a:pt x="12883261" y="0"/>
                    <a:pt x="12965176" y="159074"/>
                    <a:pt x="12965176" y="355142"/>
                  </a:cubicBezTo>
                  <a:lnTo>
                    <a:pt x="12965176" y="5362642"/>
                  </a:lnTo>
                  <a:cubicBezTo>
                    <a:pt x="12965176" y="5558710"/>
                    <a:pt x="12883261" y="5717784"/>
                    <a:pt x="12782297" y="5717784"/>
                  </a:cubicBezTo>
                  <a:lnTo>
                    <a:pt x="182880" y="5717784"/>
                  </a:lnTo>
                  <a:cubicBezTo>
                    <a:pt x="81915" y="5717784"/>
                    <a:pt x="0" y="5558710"/>
                    <a:pt x="0" y="53626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3E7FE">
                    <a:alpha val="100000"/>
                  </a:srgbClr>
                </a:gs>
                <a:gs pos="50000">
                  <a:srgbClr val="C6D5FC">
                    <a:alpha val="100000"/>
                  </a:srgbClr>
                </a:gs>
                <a:gs pos="100000">
                  <a:srgbClr val="B5DDF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1449153" y="2156763"/>
            <a:ext cx="15625749" cy="111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91"/>
              </a:lnSpc>
              <a:spcBef>
                <a:spcPct val="0"/>
              </a:spcBef>
            </a:pPr>
            <a:r>
              <a:rPr lang="en-US" b="true" sz="7172">
                <a:solidFill>
                  <a:srgbClr val="5B6E8C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Imagine a Different Future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9153" y="4668218"/>
            <a:ext cx="15625749" cy="3305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2"/>
              </a:lnSpc>
            </a:pPr>
            <a:r>
              <a:rPr lang="en-US" sz="3191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I</a:t>
            </a:r>
            <a:r>
              <a:rPr lang="en-US" sz="3191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magine focusing on your craft while an intelligent system handles your marketing. A clear, proven path from content to customers. Local and online marketing working together seamlessly.</a:t>
            </a:r>
          </a:p>
          <a:p>
            <a:pPr algn="l">
              <a:lnSpc>
                <a:spcPts val="5212"/>
              </a:lnSpc>
            </a:pPr>
          </a:p>
          <a:p>
            <a:pPr algn="l">
              <a:lnSpc>
                <a:spcPts val="5212"/>
              </a:lnSpc>
            </a:pPr>
            <a:r>
              <a:rPr lang="en-US" sz="3191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This isn't a dream — it's what happens when AI becomes your marketing copilot.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9153" y="3475538"/>
            <a:ext cx="9095409" cy="681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409"/>
              </a:lnSpc>
              <a:spcBef>
                <a:spcPct val="0"/>
              </a:spcBef>
            </a:pPr>
            <a:r>
              <a:rPr lang="en-US" sz="4315" strike="noStrike" u="none">
                <a:solidFill>
                  <a:srgbClr val="5B6E8C"/>
                </a:solidFill>
                <a:latin typeface="Alexandria"/>
                <a:ea typeface="Alexandria"/>
                <a:cs typeface="Alexandria"/>
                <a:sym typeface="Alexandria"/>
              </a:rPr>
              <a:t>What If You Could Just Create?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7711082" y="1249264"/>
            <a:ext cx="9723835" cy="139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60"/>
              </a:lnSpc>
              <a:spcBef>
                <a:spcPct val="0"/>
              </a:spcBef>
            </a:pPr>
            <a:r>
              <a:rPr lang="en-US" b="true" sz="4437" strike="noStrike" u="none">
                <a:solidFill>
                  <a:srgbClr val="5B6E8C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Introducing Your </a:t>
            </a:r>
            <a:r>
              <a:rPr lang="en-US" b="true" sz="4437" strike="noStrike" u="none">
                <a:solidFill>
                  <a:srgbClr val="5B6E8C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 </a:t>
            </a:r>
          </a:p>
          <a:p>
            <a:pPr algn="l" marL="0" indent="0" lvl="0">
              <a:lnSpc>
                <a:spcPts val="5562"/>
              </a:lnSpc>
              <a:spcBef>
                <a:spcPct val="0"/>
              </a:spcBef>
            </a:pPr>
            <a:r>
              <a:rPr lang="en-US" b="true" sz="4437" strike="noStrike" u="none">
                <a:solidFill>
                  <a:srgbClr val="5B6E8C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Marketing Copilot: Co-Create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711082" y="3602831"/>
            <a:ext cx="4740028" cy="2598241"/>
            <a:chOff x="0" y="0"/>
            <a:chExt cx="6320037" cy="34643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20028" cy="3464306"/>
            </a:xfrm>
            <a:custGeom>
              <a:avLst/>
              <a:gdLst/>
              <a:ahLst/>
              <a:cxnLst/>
              <a:rect r="r" b="b" t="t" l="l"/>
              <a:pathLst>
                <a:path h="3464306" w="6320028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137148" y="0"/>
                  </a:lnTo>
                  <a:cubicBezTo>
                    <a:pt x="6238113" y="0"/>
                    <a:pt x="6320028" y="81915"/>
                    <a:pt x="6320028" y="182880"/>
                  </a:cubicBezTo>
                  <a:lnTo>
                    <a:pt x="6320028" y="3281426"/>
                  </a:lnTo>
                  <a:cubicBezTo>
                    <a:pt x="6320028" y="3382391"/>
                    <a:pt x="6238113" y="3464306"/>
                    <a:pt x="6137148" y="3464306"/>
                  </a:cubicBezTo>
                  <a:lnTo>
                    <a:pt x="182880" y="3464306"/>
                  </a:lnTo>
                  <a:cubicBezTo>
                    <a:pt x="81915" y="3464306"/>
                    <a:pt x="0" y="3382391"/>
                    <a:pt x="0" y="328142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3E7FE">
                    <a:alpha val="100000"/>
                  </a:srgbClr>
                </a:gs>
                <a:gs pos="50000">
                  <a:srgbClr val="C6D5FC">
                    <a:alpha val="100000"/>
                  </a:srgbClr>
                </a:gs>
                <a:gs pos="100000">
                  <a:srgbClr val="B5DDF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711082" y="3574256"/>
            <a:ext cx="4740028" cy="114300"/>
            <a:chOff x="0" y="0"/>
            <a:chExt cx="6320037" cy="152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20028" cy="152400"/>
            </a:xfrm>
            <a:custGeom>
              <a:avLst/>
              <a:gdLst/>
              <a:ahLst/>
              <a:cxnLst/>
              <a:rect r="r" b="b" t="t" l="l"/>
              <a:pathLst>
                <a:path h="152400" w="6320028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6243828" y="0"/>
                  </a:lnTo>
                  <a:cubicBezTo>
                    <a:pt x="6285865" y="0"/>
                    <a:pt x="6320028" y="34163"/>
                    <a:pt x="6320028" y="76200"/>
                  </a:cubicBezTo>
                  <a:cubicBezTo>
                    <a:pt x="6320028" y="118237"/>
                    <a:pt x="6285865" y="152400"/>
                    <a:pt x="6243828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43F6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715425" y="3237310"/>
            <a:ext cx="731192" cy="731193"/>
            <a:chOff x="0" y="0"/>
            <a:chExt cx="974923" cy="97492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4979" cy="974979"/>
            </a:xfrm>
            <a:custGeom>
              <a:avLst/>
              <a:gdLst/>
              <a:ahLst/>
              <a:cxnLst/>
              <a:rect r="r" b="b" t="t" l="l"/>
              <a:pathLst>
                <a:path h="974979" w="974979">
                  <a:moveTo>
                    <a:pt x="0" y="487426"/>
                  </a:moveTo>
                  <a:cubicBezTo>
                    <a:pt x="0" y="218186"/>
                    <a:pt x="218186" y="0"/>
                    <a:pt x="487426" y="0"/>
                  </a:cubicBezTo>
                  <a:cubicBezTo>
                    <a:pt x="756666" y="0"/>
                    <a:pt x="974979" y="218186"/>
                    <a:pt x="974979" y="487426"/>
                  </a:cubicBezTo>
                  <a:cubicBezTo>
                    <a:pt x="974979" y="756666"/>
                    <a:pt x="756666" y="974979"/>
                    <a:pt x="487426" y="974979"/>
                  </a:cubicBezTo>
                  <a:cubicBezTo>
                    <a:pt x="218186" y="974979"/>
                    <a:pt x="0" y="756666"/>
                    <a:pt x="0" y="487426"/>
                  </a:cubicBezTo>
                  <a:close/>
                </a:path>
              </a:pathLst>
            </a:custGeom>
            <a:solidFill>
              <a:srgbClr val="243F6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9934799" y="3258145"/>
            <a:ext cx="135210" cy="50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4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83290" y="4126409"/>
            <a:ext cx="4058841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B3535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Context-Aware Strategy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83290" y="4635252"/>
            <a:ext cx="4195614" cy="116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Our AI understands your business, goals, and audience to create personalized marketing plans.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694741" y="3602831"/>
            <a:ext cx="4740176" cy="2598241"/>
            <a:chOff x="0" y="0"/>
            <a:chExt cx="6320235" cy="34643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20282" cy="3464306"/>
            </a:xfrm>
            <a:custGeom>
              <a:avLst/>
              <a:gdLst/>
              <a:ahLst/>
              <a:cxnLst/>
              <a:rect r="r" b="b" t="t" l="l"/>
              <a:pathLst>
                <a:path h="3464306" w="632028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137402" y="0"/>
                  </a:lnTo>
                  <a:cubicBezTo>
                    <a:pt x="6238367" y="0"/>
                    <a:pt x="6320282" y="81915"/>
                    <a:pt x="6320282" y="182880"/>
                  </a:cubicBezTo>
                  <a:lnTo>
                    <a:pt x="6320282" y="3281426"/>
                  </a:lnTo>
                  <a:cubicBezTo>
                    <a:pt x="6320282" y="3382391"/>
                    <a:pt x="6238367" y="3464306"/>
                    <a:pt x="6137402" y="3464306"/>
                  </a:cubicBezTo>
                  <a:lnTo>
                    <a:pt x="182880" y="3464306"/>
                  </a:lnTo>
                  <a:cubicBezTo>
                    <a:pt x="81915" y="3464306"/>
                    <a:pt x="0" y="3382391"/>
                    <a:pt x="0" y="3281426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3E7FE">
                    <a:alpha val="100000"/>
                  </a:srgbClr>
                </a:gs>
                <a:gs pos="50000">
                  <a:srgbClr val="C6D5FC">
                    <a:alpha val="100000"/>
                  </a:srgbClr>
                </a:gs>
                <a:gs pos="100000">
                  <a:srgbClr val="B5DDF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2694741" y="3574256"/>
            <a:ext cx="4740176" cy="114300"/>
            <a:chOff x="0" y="0"/>
            <a:chExt cx="6320235" cy="152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320282" cy="152400"/>
            </a:xfrm>
            <a:custGeom>
              <a:avLst/>
              <a:gdLst/>
              <a:ahLst/>
              <a:cxnLst/>
              <a:rect r="r" b="b" t="t" l="l"/>
              <a:pathLst>
                <a:path h="152400" w="6320282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6244082" y="0"/>
                  </a:lnTo>
                  <a:cubicBezTo>
                    <a:pt x="6286119" y="0"/>
                    <a:pt x="6320282" y="34163"/>
                    <a:pt x="6320282" y="76200"/>
                  </a:cubicBezTo>
                  <a:cubicBezTo>
                    <a:pt x="6320282" y="118237"/>
                    <a:pt x="6286119" y="152400"/>
                    <a:pt x="6244082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43F6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14699232" y="3237310"/>
            <a:ext cx="731193" cy="731193"/>
            <a:chOff x="0" y="0"/>
            <a:chExt cx="974923" cy="97492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4979" cy="974979"/>
            </a:xfrm>
            <a:custGeom>
              <a:avLst/>
              <a:gdLst/>
              <a:ahLst/>
              <a:cxnLst/>
              <a:rect r="r" b="b" t="t" l="l"/>
              <a:pathLst>
                <a:path h="974979" w="974979">
                  <a:moveTo>
                    <a:pt x="0" y="487426"/>
                  </a:moveTo>
                  <a:cubicBezTo>
                    <a:pt x="0" y="218186"/>
                    <a:pt x="218186" y="0"/>
                    <a:pt x="487426" y="0"/>
                  </a:cubicBezTo>
                  <a:cubicBezTo>
                    <a:pt x="756666" y="0"/>
                    <a:pt x="974979" y="218186"/>
                    <a:pt x="974979" y="487426"/>
                  </a:cubicBezTo>
                  <a:cubicBezTo>
                    <a:pt x="974979" y="756666"/>
                    <a:pt x="756666" y="974979"/>
                    <a:pt x="487426" y="974979"/>
                  </a:cubicBezTo>
                  <a:cubicBezTo>
                    <a:pt x="218186" y="974979"/>
                    <a:pt x="0" y="756666"/>
                    <a:pt x="0" y="487426"/>
                  </a:cubicBezTo>
                  <a:close/>
                </a:path>
              </a:pathLst>
            </a:custGeom>
            <a:solidFill>
              <a:srgbClr val="243F6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4918606" y="3258145"/>
            <a:ext cx="162371" cy="50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4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966948" y="4126409"/>
            <a:ext cx="3418508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B3535"/>
                </a:solidFill>
                <a:latin typeface="Agrandir Bold"/>
                <a:ea typeface="Agrandir Bold"/>
                <a:cs typeface="Agrandir Bold"/>
                <a:sym typeface="Agrandir Bold"/>
              </a:rPr>
              <a:t>Automated Execution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966948" y="4635252"/>
            <a:ext cx="4195762" cy="1163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Posts, emails, and outreach are created and scheduled automatically across all channels.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711082" y="6810226"/>
            <a:ext cx="9723835" cy="2208311"/>
            <a:chOff x="0" y="0"/>
            <a:chExt cx="12965113" cy="294441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965176" cy="2944368"/>
            </a:xfrm>
            <a:custGeom>
              <a:avLst/>
              <a:gdLst/>
              <a:ahLst/>
              <a:cxnLst/>
              <a:rect r="r" b="b" t="t" l="l"/>
              <a:pathLst>
                <a:path h="2944368" w="12965176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782297" y="0"/>
                  </a:lnTo>
                  <a:cubicBezTo>
                    <a:pt x="12883261" y="0"/>
                    <a:pt x="12965176" y="81915"/>
                    <a:pt x="12965176" y="182880"/>
                  </a:cubicBezTo>
                  <a:lnTo>
                    <a:pt x="12965176" y="2761488"/>
                  </a:lnTo>
                  <a:cubicBezTo>
                    <a:pt x="12965176" y="2862453"/>
                    <a:pt x="12883261" y="2944368"/>
                    <a:pt x="12782297" y="2944368"/>
                  </a:cubicBezTo>
                  <a:lnTo>
                    <a:pt x="182880" y="2944368"/>
                  </a:lnTo>
                  <a:cubicBezTo>
                    <a:pt x="81915" y="2944368"/>
                    <a:pt x="0" y="2862453"/>
                    <a:pt x="0" y="2761488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B3E7FE">
                    <a:alpha val="100000"/>
                  </a:srgbClr>
                </a:gs>
                <a:gs pos="50000">
                  <a:srgbClr val="C6D5FC">
                    <a:alpha val="100000"/>
                  </a:srgbClr>
                </a:gs>
                <a:gs pos="100000">
                  <a:srgbClr val="B5DDFD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w="12700">
              <a:solidFill>
                <a:srgbClr val="000000"/>
              </a:solidFill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711082" y="6781651"/>
            <a:ext cx="9723835" cy="114300"/>
            <a:chOff x="0" y="0"/>
            <a:chExt cx="12965113" cy="152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965176" cy="152400"/>
            </a:xfrm>
            <a:custGeom>
              <a:avLst/>
              <a:gdLst/>
              <a:ahLst/>
              <a:cxnLst/>
              <a:rect r="r" b="b" t="t" l="l"/>
              <a:pathLst>
                <a:path h="152400" w="12965176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2888976" y="0"/>
                  </a:lnTo>
                  <a:cubicBezTo>
                    <a:pt x="12931013" y="0"/>
                    <a:pt x="12965176" y="34163"/>
                    <a:pt x="12965176" y="76200"/>
                  </a:cubicBezTo>
                  <a:cubicBezTo>
                    <a:pt x="12965176" y="118237"/>
                    <a:pt x="12931013" y="152400"/>
                    <a:pt x="12888976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243F6E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207404" y="6444704"/>
            <a:ext cx="731193" cy="731193"/>
            <a:chOff x="0" y="0"/>
            <a:chExt cx="974923" cy="9749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4979" cy="974979"/>
            </a:xfrm>
            <a:custGeom>
              <a:avLst/>
              <a:gdLst/>
              <a:ahLst/>
              <a:cxnLst/>
              <a:rect r="r" b="b" t="t" l="l"/>
              <a:pathLst>
                <a:path h="974979" w="974979">
                  <a:moveTo>
                    <a:pt x="0" y="487426"/>
                  </a:moveTo>
                  <a:cubicBezTo>
                    <a:pt x="0" y="218186"/>
                    <a:pt x="218186" y="0"/>
                    <a:pt x="487426" y="0"/>
                  </a:cubicBezTo>
                  <a:cubicBezTo>
                    <a:pt x="756666" y="0"/>
                    <a:pt x="974979" y="218186"/>
                    <a:pt x="974979" y="487426"/>
                  </a:cubicBezTo>
                  <a:cubicBezTo>
                    <a:pt x="974979" y="756666"/>
                    <a:pt x="756666" y="974979"/>
                    <a:pt x="487426" y="974979"/>
                  </a:cubicBezTo>
                  <a:cubicBezTo>
                    <a:pt x="218186" y="974979"/>
                    <a:pt x="0" y="756666"/>
                    <a:pt x="0" y="487426"/>
                  </a:cubicBezTo>
                  <a:close/>
                </a:path>
              </a:pathLst>
            </a:custGeom>
            <a:solidFill>
              <a:srgbClr val="243F6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2426776" y="6465540"/>
            <a:ext cx="170631" cy="501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</a:pPr>
            <a:r>
              <a:rPr lang="en-US" sz="224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983290" y="7333804"/>
            <a:ext cx="3220417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B3535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Continuous Learning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983290" y="7842648"/>
            <a:ext cx="9179421" cy="782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The system measures what converts and adapts your strategy in real-time for better results.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156301" y="3092155"/>
            <a:ext cx="4653949" cy="4653949"/>
          </a:xfrm>
          <a:custGeom>
            <a:avLst/>
            <a:gdLst/>
            <a:ahLst/>
            <a:cxnLst/>
            <a:rect r="r" b="b" t="t" l="l"/>
            <a:pathLst>
              <a:path h="4653949" w="4653949">
                <a:moveTo>
                  <a:pt x="0" y="0"/>
                </a:moveTo>
                <a:lnTo>
                  <a:pt x="4653949" y="0"/>
                </a:lnTo>
                <a:lnTo>
                  <a:pt x="4653949" y="4653950"/>
                </a:lnTo>
                <a:lnTo>
                  <a:pt x="0" y="4653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0164" y="604689"/>
            <a:ext cx="6242596" cy="827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b="true" sz="4875">
                <a:solidFill>
                  <a:srgbClr val="5B6E8C"/>
                </a:solidFill>
                <a:latin typeface="Arimo Bold"/>
                <a:ea typeface="Arimo Bold"/>
                <a:cs typeface="Arimo Bold"/>
                <a:sym typeface="Arimo Bold"/>
              </a:rPr>
              <a:t>How It Works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29712" y="1906935"/>
            <a:ext cx="28575" cy="7082581"/>
            <a:chOff x="0" y="0"/>
            <a:chExt cx="38100" cy="94434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" cy="9443466"/>
            </a:xfrm>
            <a:custGeom>
              <a:avLst/>
              <a:gdLst/>
              <a:ahLst/>
              <a:cxnLst/>
              <a:rect r="r" b="b" t="t" l="l"/>
              <a:pathLst>
                <a:path h="9443466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424416"/>
                  </a:lnTo>
                  <a:cubicBezTo>
                    <a:pt x="38100" y="9434957"/>
                    <a:pt x="29591" y="9443466"/>
                    <a:pt x="19050" y="9443466"/>
                  </a:cubicBezTo>
                  <a:cubicBezTo>
                    <a:pt x="8509" y="9443466"/>
                    <a:pt x="0" y="9434957"/>
                    <a:pt x="0" y="9424416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8194179" y="2159496"/>
            <a:ext cx="711548" cy="28575"/>
            <a:chOff x="0" y="0"/>
            <a:chExt cx="948730" cy="3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48690" cy="38100"/>
            </a:xfrm>
            <a:custGeom>
              <a:avLst/>
              <a:gdLst/>
              <a:ahLst/>
              <a:cxnLst/>
              <a:rect r="r" b="b" t="t" l="l"/>
              <a:pathLst>
                <a:path h="38100" w="94869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640" y="0"/>
                  </a:lnTo>
                  <a:cubicBezTo>
                    <a:pt x="940181" y="0"/>
                    <a:pt x="948690" y="8509"/>
                    <a:pt x="948690" y="19050"/>
                  </a:cubicBezTo>
                  <a:cubicBezTo>
                    <a:pt x="948690" y="29591"/>
                    <a:pt x="940181" y="38100"/>
                    <a:pt x="9296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8872389" y="1902172"/>
            <a:ext cx="543222" cy="543222"/>
            <a:chOff x="0" y="0"/>
            <a:chExt cx="724297" cy="72429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350" y="6350"/>
              <a:ext cx="711581" cy="711581"/>
            </a:xfrm>
            <a:custGeom>
              <a:avLst/>
              <a:gdLst/>
              <a:ahLst/>
              <a:cxnLst/>
              <a:rect r="r" b="b" t="t" l="l"/>
              <a:pathLst>
                <a:path h="711581" w="711581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78739" y="0"/>
                  </a:lnTo>
                  <a:cubicBezTo>
                    <a:pt x="652145" y="0"/>
                    <a:pt x="711581" y="59436"/>
                    <a:pt x="711581" y="132842"/>
                  </a:cubicBezTo>
                  <a:lnTo>
                    <a:pt x="711581" y="578739"/>
                  </a:lnTo>
                  <a:cubicBezTo>
                    <a:pt x="711581" y="652145"/>
                    <a:pt x="652145" y="711581"/>
                    <a:pt x="578739" y="711581"/>
                  </a:cubicBezTo>
                  <a:lnTo>
                    <a:pt x="132842" y="711581"/>
                  </a:lnTo>
                  <a:cubicBezTo>
                    <a:pt x="59436" y="711581"/>
                    <a:pt x="0" y="652145"/>
                    <a:pt x="0" y="578739"/>
                  </a:cubicBezTo>
                  <a:close/>
                </a:path>
              </a:pathLst>
            </a:custGeom>
            <a:solidFill>
              <a:srgbClr val="F9D2D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4281" cy="724281"/>
            </a:xfrm>
            <a:custGeom>
              <a:avLst/>
              <a:gdLst/>
              <a:ahLst/>
              <a:cxnLst/>
              <a:rect r="r" b="b" t="t" l="l"/>
              <a:pathLst>
                <a:path h="724281" w="724281">
                  <a:moveTo>
                    <a:pt x="0" y="139192"/>
                  </a:moveTo>
                  <a:cubicBezTo>
                    <a:pt x="0" y="62357"/>
                    <a:pt x="62357" y="0"/>
                    <a:pt x="139192" y="0"/>
                  </a:cubicBezTo>
                  <a:lnTo>
                    <a:pt x="585089" y="0"/>
                  </a:lnTo>
                  <a:lnTo>
                    <a:pt x="585089" y="6350"/>
                  </a:lnTo>
                  <a:lnTo>
                    <a:pt x="585089" y="0"/>
                  </a:lnTo>
                  <a:cubicBezTo>
                    <a:pt x="661924" y="0"/>
                    <a:pt x="724281" y="62357"/>
                    <a:pt x="724281" y="139192"/>
                  </a:cubicBezTo>
                  <a:lnTo>
                    <a:pt x="717931" y="139192"/>
                  </a:lnTo>
                  <a:lnTo>
                    <a:pt x="724281" y="139192"/>
                  </a:lnTo>
                  <a:lnTo>
                    <a:pt x="724281" y="585089"/>
                  </a:lnTo>
                  <a:lnTo>
                    <a:pt x="717931" y="585089"/>
                  </a:lnTo>
                  <a:lnTo>
                    <a:pt x="724281" y="585089"/>
                  </a:lnTo>
                  <a:cubicBezTo>
                    <a:pt x="724281" y="661924"/>
                    <a:pt x="661924" y="724281"/>
                    <a:pt x="585089" y="724281"/>
                  </a:cubicBezTo>
                  <a:lnTo>
                    <a:pt x="585089" y="717931"/>
                  </a:lnTo>
                  <a:lnTo>
                    <a:pt x="585089" y="724281"/>
                  </a:lnTo>
                  <a:lnTo>
                    <a:pt x="139192" y="724281"/>
                  </a:lnTo>
                  <a:lnTo>
                    <a:pt x="139192" y="717931"/>
                  </a:lnTo>
                  <a:lnTo>
                    <a:pt x="139192" y="724281"/>
                  </a:lnTo>
                  <a:cubicBezTo>
                    <a:pt x="62357" y="724281"/>
                    <a:pt x="0" y="661924"/>
                    <a:pt x="0" y="585089"/>
                  </a:cubicBezTo>
                  <a:lnTo>
                    <a:pt x="0" y="139192"/>
                  </a:lnTo>
                  <a:lnTo>
                    <a:pt x="6350" y="139192"/>
                  </a:lnTo>
                  <a:lnTo>
                    <a:pt x="0" y="139192"/>
                  </a:lnTo>
                  <a:moveTo>
                    <a:pt x="12700" y="139192"/>
                  </a:moveTo>
                  <a:lnTo>
                    <a:pt x="12700" y="585089"/>
                  </a:lnTo>
                  <a:lnTo>
                    <a:pt x="6350" y="585089"/>
                  </a:lnTo>
                  <a:lnTo>
                    <a:pt x="12700" y="585089"/>
                  </a:lnTo>
                  <a:cubicBezTo>
                    <a:pt x="12700" y="654939"/>
                    <a:pt x="69342" y="711581"/>
                    <a:pt x="139192" y="711581"/>
                  </a:cubicBezTo>
                  <a:lnTo>
                    <a:pt x="585089" y="711581"/>
                  </a:lnTo>
                  <a:cubicBezTo>
                    <a:pt x="654939" y="711581"/>
                    <a:pt x="711581" y="654939"/>
                    <a:pt x="711581" y="585089"/>
                  </a:cubicBezTo>
                  <a:lnTo>
                    <a:pt x="711581" y="139192"/>
                  </a:lnTo>
                  <a:cubicBezTo>
                    <a:pt x="711581" y="69342"/>
                    <a:pt x="654939" y="12700"/>
                    <a:pt x="585089" y="12700"/>
                  </a:cubicBezTo>
                  <a:lnTo>
                    <a:pt x="139192" y="12700"/>
                  </a:lnTo>
                  <a:lnTo>
                    <a:pt x="139192" y="6350"/>
                  </a:lnTo>
                  <a:lnTo>
                    <a:pt x="139192" y="12700"/>
                  </a:lnTo>
                  <a:cubicBezTo>
                    <a:pt x="69342" y="12700"/>
                    <a:pt x="12700" y="69342"/>
                    <a:pt x="12700" y="139192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8956774" y="1977851"/>
            <a:ext cx="374451" cy="42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836765" y="1969294"/>
            <a:ext cx="3121224" cy="40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en-US" sz="24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Input Your Context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30164" y="2425452"/>
            <a:ext cx="7127825" cy="8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7"/>
              </a:lnSpc>
            </a:pPr>
            <a:r>
              <a:rPr lang="en-US" sz="1812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Tell us about your business: goals, products, location, and target audience.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382274" y="3582591"/>
            <a:ext cx="711548" cy="28575"/>
            <a:chOff x="0" y="0"/>
            <a:chExt cx="948730" cy="381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8690" cy="38100"/>
            </a:xfrm>
            <a:custGeom>
              <a:avLst/>
              <a:gdLst/>
              <a:ahLst/>
              <a:cxnLst/>
              <a:rect r="r" b="b" t="t" l="l"/>
              <a:pathLst>
                <a:path h="38100" w="94869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640" y="0"/>
                  </a:lnTo>
                  <a:cubicBezTo>
                    <a:pt x="940181" y="0"/>
                    <a:pt x="948690" y="8509"/>
                    <a:pt x="948690" y="19050"/>
                  </a:cubicBezTo>
                  <a:cubicBezTo>
                    <a:pt x="948690" y="29591"/>
                    <a:pt x="940181" y="38100"/>
                    <a:pt x="9296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8872389" y="3325266"/>
            <a:ext cx="543222" cy="543222"/>
            <a:chOff x="0" y="0"/>
            <a:chExt cx="724297" cy="72429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6350" y="6350"/>
              <a:ext cx="711581" cy="711581"/>
            </a:xfrm>
            <a:custGeom>
              <a:avLst/>
              <a:gdLst/>
              <a:ahLst/>
              <a:cxnLst/>
              <a:rect r="r" b="b" t="t" l="l"/>
              <a:pathLst>
                <a:path h="711581" w="711581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78739" y="0"/>
                  </a:lnTo>
                  <a:cubicBezTo>
                    <a:pt x="652145" y="0"/>
                    <a:pt x="711581" y="59436"/>
                    <a:pt x="711581" y="132842"/>
                  </a:cubicBezTo>
                  <a:lnTo>
                    <a:pt x="711581" y="578739"/>
                  </a:lnTo>
                  <a:cubicBezTo>
                    <a:pt x="711581" y="652145"/>
                    <a:pt x="652145" y="711581"/>
                    <a:pt x="578739" y="711581"/>
                  </a:cubicBezTo>
                  <a:lnTo>
                    <a:pt x="132842" y="711581"/>
                  </a:lnTo>
                  <a:cubicBezTo>
                    <a:pt x="59436" y="711581"/>
                    <a:pt x="0" y="652145"/>
                    <a:pt x="0" y="578739"/>
                  </a:cubicBezTo>
                  <a:close/>
                </a:path>
              </a:pathLst>
            </a:custGeom>
            <a:solidFill>
              <a:srgbClr val="F9D2D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24281" cy="724281"/>
            </a:xfrm>
            <a:custGeom>
              <a:avLst/>
              <a:gdLst/>
              <a:ahLst/>
              <a:cxnLst/>
              <a:rect r="r" b="b" t="t" l="l"/>
              <a:pathLst>
                <a:path h="724281" w="724281">
                  <a:moveTo>
                    <a:pt x="0" y="139192"/>
                  </a:moveTo>
                  <a:cubicBezTo>
                    <a:pt x="0" y="62357"/>
                    <a:pt x="62357" y="0"/>
                    <a:pt x="139192" y="0"/>
                  </a:cubicBezTo>
                  <a:lnTo>
                    <a:pt x="585089" y="0"/>
                  </a:lnTo>
                  <a:lnTo>
                    <a:pt x="585089" y="6350"/>
                  </a:lnTo>
                  <a:lnTo>
                    <a:pt x="585089" y="0"/>
                  </a:lnTo>
                  <a:cubicBezTo>
                    <a:pt x="661924" y="0"/>
                    <a:pt x="724281" y="62357"/>
                    <a:pt x="724281" y="139192"/>
                  </a:cubicBezTo>
                  <a:lnTo>
                    <a:pt x="717931" y="139192"/>
                  </a:lnTo>
                  <a:lnTo>
                    <a:pt x="724281" y="139192"/>
                  </a:lnTo>
                  <a:lnTo>
                    <a:pt x="724281" y="585089"/>
                  </a:lnTo>
                  <a:lnTo>
                    <a:pt x="717931" y="585089"/>
                  </a:lnTo>
                  <a:lnTo>
                    <a:pt x="724281" y="585089"/>
                  </a:lnTo>
                  <a:cubicBezTo>
                    <a:pt x="724281" y="661924"/>
                    <a:pt x="661924" y="724281"/>
                    <a:pt x="585089" y="724281"/>
                  </a:cubicBezTo>
                  <a:lnTo>
                    <a:pt x="585089" y="717931"/>
                  </a:lnTo>
                  <a:lnTo>
                    <a:pt x="585089" y="724281"/>
                  </a:lnTo>
                  <a:lnTo>
                    <a:pt x="139192" y="724281"/>
                  </a:lnTo>
                  <a:lnTo>
                    <a:pt x="139192" y="717931"/>
                  </a:lnTo>
                  <a:lnTo>
                    <a:pt x="139192" y="724281"/>
                  </a:lnTo>
                  <a:cubicBezTo>
                    <a:pt x="62357" y="724281"/>
                    <a:pt x="0" y="661924"/>
                    <a:pt x="0" y="585089"/>
                  </a:cubicBezTo>
                  <a:lnTo>
                    <a:pt x="0" y="139192"/>
                  </a:lnTo>
                  <a:lnTo>
                    <a:pt x="6350" y="139192"/>
                  </a:lnTo>
                  <a:lnTo>
                    <a:pt x="0" y="139192"/>
                  </a:lnTo>
                  <a:moveTo>
                    <a:pt x="12700" y="139192"/>
                  </a:moveTo>
                  <a:lnTo>
                    <a:pt x="12700" y="585089"/>
                  </a:lnTo>
                  <a:lnTo>
                    <a:pt x="6350" y="585089"/>
                  </a:lnTo>
                  <a:lnTo>
                    <a:pt x="12700" y="585089"/>
                  </a:lnTo>
                  <a:cubicBezTo>
                    <a:pt x="12700" y="654939"/>
                    <a:pt x="69342" y="711581"/>
                    <a:pt x="139192" y="711581"/>
                  </a:cubicBezTo>
                  <a:lnTo>
                    <a:pt x="585089" y="711581"/>
                  </a:lnTo>
                  <a:cubicBezTo>
                    <a:pt x="654939" y="711581"/>
                    <a:pt x="711581" y="654939"/>
                    <a:pt x="711581" y="585089"/>
                  </a:cubicBezTo>
                  <a:lnTo>
                    <a:pt x="711581" y="139192"/>
                  </a:lnTo>
                  <a:cubicBezTo>
                    <a:pt x="711581" y="69342"/>
                    <a:pt x="654939" y="12700"/>
                    <a:pt x="585089" y="12700"/>
                  </a:cubicBezTo>
                  <a:lnTo>
                    <a:pt x="139192" y="12700"/>
                  </a:lnTo>
                  <a:lnTo>
                    <a:pt x="139192" y="6350"/>
                  </a:lnTo>
                  <a:lnTo>
                    <a:pt x="139192" y="12700"/>
                  </a:lnTo>
                  <a:cubicBezTo>
                    <a:pt x="69342" y="12700"/>
                    <a:pt x="12700" y="69342"/>
                    <a:pt x="12700" y="139192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8956774" y="3400946"/>
            <a:ext cx="374451" cy="42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30011" y="3392389"/>
            <a:ext cx="3618310" cy="40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AI Generates Your Plan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330011" y="3848546"/>
            <a:ext cx="7127825" cy="8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Receive a tailored marketing strategy designed specifically for your creative business.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8194179" y="4809232"/>
            <a:ext cx="711548" cy="28575"/>
            <a:chOff x="0" y="0"/>
            <a:chExt cx="948730" cy="38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8690" cy="38100"/>
            </a:xfrm>
            <a:custGeom>
              <a:avLst/>
              <a:gdLst/>
              <a:ahLst/>
              <a:cxnLst/>
              <a:rect r="r" b="b" t="t" l="l"/>
              <a:pathLst>
                <a:path h="38100" w="94869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640" y="0"/>
                  </a:lnTo>
                  <a:cubicBezTo>
                    <a:pt x="940181" y="0"/>
                    <a:pt x="948690" y="8509"/>
                    <a:pt x="948690" y="19050"/>
                  </a:cubicBezTo>
                  <a:cubicBezTo>
                    <a:pt x="948690" y="29591"/>
                    <a:pt x="940181" y="38100"/>
                    <a:pt x="9296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872389" y="4551909"/>
            <a:ext cx="543222" cy="543222"/>
            <a:chOff x="0" y="0"/>
            <a:chExt cx="724297" cy="72429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711581" cy="711581"/>
            </a:xfrm>
            <a:custGeom>
              <a:avLst/>
              <a:gdLst/>
              <a:ahLst/>
              <a:cxnLst/>
              <a:rect r="r" b="b" t="t" l="l"/>
              <a:pathLst>
                <a:path h="711581" w="711581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78739" y="0"/>
                  </a:lnTo>
                  <a:cubicBezTo>
                    <a:pt x="652145" y="0"/>
                    <a:pt x="711581" y="59436"/>
                    <a:pt x="711581" y="132842"/>
                  </a:cubicBezTo>
                  <a:lnTo>
                    <a:pt x="711581" y="578739"/>
                  </a:lnTo>
                  <a:cubicBezTo>
                    <a:pt x="711581" y="652145"/>
                    <a:pt x="652145" y="711581"/>
                    <a:pt x="578739" y="711581"/>
                  </a:cubicBezTo>
                  <a:lnTo>
                    <a:pt x="132842" y="711581"/>
                  </a:lnTo>
                  <a:cubicBezTo>
                    <a:pt x="59436" y="711581"/>
                    <a:pt x="0" y="652145"/>
                    <a:pt x="0" y="578739"/>
                  </a:cubicBezTo>
                  <a:close/>
                </a:path>
              </a:pathLst>
            </a:custGeom>
            <a:solidFill>
              <a:srgbClr val="F9D2D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4281" cy="724281"/>
            </a:xfrm>
            <a:custGeom>
              <a:avLst/>
              <a:gdLst/>
              <a:ahLst/>
              <a:cxnLst/>
              <a:rect r="r" b="b" t="t" l="l"/>
              <a:pathLst>
                <a:path h="724281" w="724281">
                  <a:moveTo>
                    <a:pt x="0" y="139192"/>
                  </a:moveTo>
                  <a:cubicBezTo>
                    <a:pt x="0" y="62357"/>
                    <a:pt x="62357" y="0"/>
                    <a:pt x="139192" y="0"/>
                  </a:cubicBezTo>
                  <a:lnTo>
                    <a:pt x="585089" y="0"/>
                  </a:lnTo>
                  <a:lnTo>
                    <a:pt x="585089" y="6350"/>
                  </a:lnTo>
                  <a:lnTo>
                    <a:pt x="585089" y="0"/>
                  </a:lnTo>
                  <a:cubicBezTo>
                    <a:pt x="661924" y="0"/>
                    <a:pt x="724281" y="62357"/>
                    <a:pt x="724281" y="139192"/>
                  </a:cubicBezTo>
                  <a:lnTo>
                    <a:pt x="717931" y="139192"/>
                  </a:lnTo>
                  <a:lnTo>
                    <a:pt x="724281" y="139192"/>
                  </a:lnTo>
                  <a:lnTo>
                    <a:pt x="724281" y="585089"/>
                  </a:lnTo>
                  <a:lnTo>
                    <a:pt x="717931" y="585089"/>
                  </a:lnTo>
                  <a:lnTo>
                    <a:pt x="724281" y="585089"/>
                  </a:lnTo>
                  <a:cubicBezTo>
                    <a:pt x="724281" y="661924"/>
                    <a:pt x="661924" y="724281"/>
                    <a:pt x="585089" y="724281"/>
                  </a:cubicBezTo>
                  <a:lnTo>
                    <a:pt x="585089" y="717931"/>
                  </a:lnTo>
                  <a:lnTo>
                    <a:pt x="585089" y="724281"/>
                  </a:lnTo>
                  <a:lnTo>
                    <a:pt x="139192" y="724281"/>
                  </a:lnTo>
                  <a:lnTo>
                    <a:pt x="139192" y="717931"/>
                  </a:lnTo>
                  <a:lnTo>
                    <a:pt x="139192" y="724281"/>
                  </a:lnTo>
                  <a:cubicBezTo>
                    <a:pt x="62357" y="724281"/>
                    <a:pt x="0" y="661924"/>
                    <a:pt x="0" y="585089"/>
                  </a:cubicBezTo>
                  <a:lnTo>
                    <a:pt x="0" y="139192"/>
                  </a:lnTo>
                  <a:lnTo>
                    <a:pt x="6350" y="139192"/>
                  </a:lnTo>
                  <a:lnTo>
                    <a:pt x="0" y="139192"/>
                  </a:lnTo>
                  <a:moveTo>
                    <a:pt x="12700" y="139192"/>
                  </a:moveTo>
                  <a:lnTo>
                    <a:pt x="12700" y="585089"/>
                  </a:lnTo>
                  <a:lnTo>
                    <a:pt x="6350" y="585089"/>
                  </a:lnTo>
                  <a:lnTo>
                    <a:pt x="12700" y="585089"/>
                  </a:lnTo>
                  <a:cubicBezTo>
                    <a:pt x="12700" y="654939"/>
                    <a:pt x="69342" y="711581"/>
                    <a:pt x="139192" y="711581"/>
                  </a:cubicBezTo>
                  <a:lnTo>
                    <a:pt x="585089" y="711581"/>
                  </a:lnTo>
                  <a:cubicBezTo>
                    <a:pt x="654939" y="711581"/>
                    <a:pt x="711581" y="654939"/>
                    <a:pt x="711581" y="585089"/>
                  </a:cubicBezTo>
                  <a:lnTo>
                    <a:pt x="711581" y="139192"/>
                  </a:lnTo>
                  <a:cubicBezTo>
                    <a:pt x="711581" y="69342"/>
                    <a:pt x="654939" y="12700"/>
                    <a:pt x="585089" y="12700"/>
                  </a:cubicBezTo>
                  <a:lnTo>
                    <a:pt x="139192" y="12700"/>
                  </a:lnTo>
                  <a:lnTo>
                    <a:pt x="139192" y="6350"/>
                  </a:lnTo>
                  <a:lnTo>
                    <a:pt x="139192" y="12700"/>
                  </a:lnTo>
                  <a:cubicBezTo>
                    <a:pt x="69342" y="12700"/>
                    <a:pt x="12700" y="69342"/>
                    <a:pt x="12700" y="139192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8956774" y="4627588"/>
            <a:ext cx="374451" cy="42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69036" y="4619030"/>
            <a:ext cx="3288952" cy="40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en-US" sz="24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Automated Creation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30164" y="5075187"/>
            <a:ext cx="7127825" cy="8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7"/>
              </a:lnSpc>
            </a:pPr>
            <a:r>
              <a:rPr lang="en-US" sz="1812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Content and outreach are created and scheduled automatically across all channels.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382274" y="6036022"/>
            <a:ext cx="711548" cy="28575"/>
            <a:chOff x="0" y="0"/>
            <a:chExt cx="948730" cy="38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8690" cy="38100"/>
            </a:xfrm>
            <a:custGeom>
              <a:avLst/>
              <a:gdLst/>
              <a:ahLst/>
              <a:cxnLst/>
              <a:rect r="r" b="b" t="t" l="l"/>
              <a:pathLst>
                <a:path h="38100" w="94869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640" y="0"/>
                  </a:lnTo>
                  <a:cubicBezTo>
                    <a:pt x="940181" y="0"/>
                    <a:pt x="948690" y="8509"/>
                    <a:pt x="948690" y="19050"/>
                  </a:cubicBezTo>
                  <a:cubicBezTo>
                    <a:pt x="948690" y="29591"/>
                    <a:pt x="940181" y="38100"/>
                    <a:pt x="9296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872389" y="5778699"/>
            <a:ext cx="543222" cy="543222"/>
            <a:chOff x="0" y="0"/>
            <a:chExt cx="724297" cy="72429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711581" cy="711581"/>
            </a:xfrm>
            <a:custGeom>
              <a:avLst/>
              <a:gdLst/>
              <a:ahLst/>
              <a:cxnLst/>
              <a:rect r="r" b="b" t="t" l="l"/>
              <a:pathLst>
                <a:path h="711581" w="711581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78739" y="0"/>
                  </a:lnTo>
                  <a:cubicBezTo>
                    <a:pt x="652145" y="0"/>
                    <a:pt x="711581" y="59436"/>
                    <a:pt x="711581" y="132842"/>
                  </a:cubicBezTo>
                  <a:lnTo>
                    <a:pt x="711581" y="578739"/>
                  </a:lnTo>
                  <a:cubicBezTo>
                    <a:pt x="711581" y="652145"/>
                    <a:pt x="652145" y="711581"/>
                    <a:pt x="578739" y="711581"/>
                  </a:cubicBezTo>
                  <a:lnTo>
                    <a:pt x="132842" y="711581"/>
                  </a:lnTo>
                  <a:cubicBezTo>
                    <a:pt x="59436" y="711581"/>
                    <a:pt x="0" y="652145"/>
                    <a:pt x="0" y="578739"/>
                  </a:cubicBezTo>
                  <a:close/>
                </a:path>
              </a:pathLst>
            </a:custGeom>
            <a:solidFill>
              <a:srgbClr val="F9D2D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4281" cy="724281"/>
            </a:xfrm>
            <a:custGeom>
              <a:avLst/>
              <a:gdLst/>
              <a:ahLst/>
              <a:cxnLst/>
              <a:rect r="r" b="b" t="t" l="l"/>
              <a:pathLst>
                <a:path h="724281" w="724281">
                  <a:moveTo>
                    <a:pt x="0" y="139192"/>
                  </a:moveTo>
                  <a:cubicBezTo>
                    <a:pt x="0" y="62357"/>
                    <a:pt x="62357" y="0"/>
                    <a:pt x="139192" y="0"/>
                  </a:cubicBezTo>
                  <a:lnTo>
                    <a:pt x="585089" y="0"/>
                  </a:lnTo>
                  <a:lnTo>
                    <a:pt x="585089" y="6350"/>
                  </a:lnTo>
                  <a:lnTo>
                    <a:pt x="585089" y="0"/>
                  </a:lnTo>
                  <a:cubicBezTo>
                    <a:pt x="661924" y="0"/>
                    <a:pt x="724281" y="62357"/>
                    <a:pt x="724281" y="139192"/>
                  </a:cubicBezTo>
                  <a:lnTo>
                    <a:pt x="717931" y="139192"/>
                  </a:lnTo>
                  <a:lnTo>
                    <a:pt x="724281" y="139192"/>
                  </a:lnTo>
                  <a:lnTo>
                    <a:pt x="724281" y="585089"/>
                  </a:lnTo>
                  <a:lnTo>
                    <a:pt x="717931" y="585089"/>
                  </a:lnTo>
                  <a:lnTo>
                    <a:pt x="724281" y="585089"/>
                  </a:lnTo>
                  <a:cubicBezTo>
                    <a:pt x="724281" y="661924"/>
                    <a:pt x="661924" y="724281"/>
                    <a:pt x="585089" y="724281"/>
                  </a:cubicBezTo>
                  <a:lnTo>
                    <a:pt x="585089" y="717931"/>
                  </a:lnTo>
                  <a:lnTo>
                    <a:pt x="585089" y="724281"/>
                  </a:lnTo>
                  <a:lnTo>
                    <a:pt x="139192" y="724281"/>
                  </a:lnTo>
                  <a:lnTo>
                    <a:pt x="139192" y="717931"/>
                  </a:lnTo>
                  <a:lnTo>
                    <a:pt x="139192" y="724281"/>
                  </a:lnTo>
                  <a:cubicBezTo>
                    <a:pt x="62357" y="724281"/>
                    <a:pt x="0" y="661924"/>
                    <a:pt x="0" y="585089"/>
                  </a:cubicBezTo>
                  <a:lnTo>
                    <a:pt x="0" y="139192"/>
                  </a:lnTo>
                  <a:lnTo>
                    <a:pt x="6350" y="139192"/>
                  </a:lnTo>
                  <a:lnTo>
                    <a:pt x="0" y="139192"/>
                  </a:lnTo>
                  <a:moveTo>
                    <a:pt x="12700" y="139192"/>
                  </a:moveTo>
                  <a:lnTo>
                    <a:pt x="12700" y="585089"/>
                  </a:lnTo>
                  <a:lnTo>
                    <a:pt x="6350" y="585089"/>
                  </a:lnTo>
                  <a:lnTo>
                    <a:pt x="12700" y="585089"/>
                  </a:lnTo>
                  <a:cubicBezTo>
                    <a:pt x="12700" y="654939"/>
                    <a:pt x="69342" y="711581"/>
                    <a:pt x="139192" y="711581"/>
                  </a:cubicBezTo>
                  <a:lnTo>
                    <a:pt x="585089" y="711581"/>
                  </a:lnTo>
                  <a:cubicBezTo>
                    <a:pt x="654939" y="711581"/>
                    <a:pt x="711581" y="654939"/>
                    <a:pt x="711581" y="585089"/>
                  </a:cubicBezTo>
                  <a:lnTo>
                    <a:pt x="711581" y="139192"/>
                  </a:lnTo>
                  <a:cubicBezTo>
                    <a:pt x="711581" y="69342"/>
                    <a:pt x="654939" y="12700"/>
                    <a:pt x="585089" y="12700"/>
                  </a:cubicBezTo>
                  <a:lnTo>
                    <a:pt x="139192" y="12700"/>
                  </a:lnTo>
                  <a:lnTo>
                    <a:pt x="139192" y="6350"/>
                  </a:lnTo>
                  <a:lnTo>
                    <a:pt x="139192" y="12700"/>
                  </a:lnTo>
                  <a:cubicBezTo>
                    <a:pt x="69342" y="12700"/>
                    <a:pt x="12700" y="69342"/>
                    <a:pt x="12700" y="139192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8956774" y="5854378"/>
            <a:ext cx="374451" cy="42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330011" y="5845820"/>
            <a:ext cx="3520976" cy="40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Performance Tracking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330011" y="6301979"/>
            <a:ext cx="7127825" cy="8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sz="1812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Monitor what's working with clear metrics tied to revenue, not just vanity metrics.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194179" y="7262812"/>
            <a:ext cx="711548" cy="28575"/>
            <a:chOff x="0" y="0"/>
            <a:chExt cx="948730" cy="381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48690" cy="38100"/>
            </a:xfrm>
            <a:custGeom>
              <a:avLst/>
              <a:gdLst/>
              <a:ahLst/>
              <a:cxnLst/>
              <a:rect r="r" b="b" t="t" l="l"/>
              <a:pathLst>
                <a:path h="38100" w="94869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29640" y="0"/>
                  </a:lnTo>
                  <a:cubicBezTo>
                    <a:pt x="940181" y="0"/>
                    <a:pt x="948690" y="8509"/>
                    <a:pt x="948690" y="19050"/>
                  </a:cubicBezTo>
                  <a:cubicBezTo>
                    <a:pt x="948690" y="29591"/>
                    <a:pt x="940181" y="38100"/>
                    <a:pt x="929640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872389" y="7005489"/>
            <a:ext cx="543222" cy="543223"/>
            <a:chOff x="0" y="0"/>
            <a:chExt cx="724297" cy="72429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6350" y="6350"/>
              <a:ext cx="711581" cy="711581"/>
            </a:xfrm>
            <a:custGeom>
              <a:avLst/>
              <a:gdLst/>
              <a:ahLst/>
              <a:cxnLst/>
              <a:rect r="r" b="b" t="t" l="l"/>
              <a:pathLst>
                <a:path h="711581" w="711581">
                  <a:moveTo>
                    <a:pt x="0" y="132842"/>
                  </a:moveTo>
                  <a:cubicBezTo>
                    <a:pt x="0" y="59436"/>
                    <a:pt x="59436" y="0"/>
                    <a:pt x="132842" y="0"/>
                  </a:cubicBezTo>
                  <a:lnTo>
                    <a:pt x="578739" y="0"/>
                  </a:lnTo>
                  <a:cubicBezTo>
                    <a:pt x="652145" y="0"/>
                    <a:pt x="711581" y="59436"/>
                    <a:pt x="711581" y="132842"/>
                  </a:cubicBezTo>
                  <a:lnTo>
                    <a:pt x="711581" y="578739"/>
                  </a:lnTo>
                  <a:cubicBezTo>
                    <a:pt x="711581" y="652145"/>
                    <a:pt x="652145" y="711581"/>
                    <a:pt x="578739" y="711581"/>
                  </a:cubicBezTo>
                  <a:lnTo>
                    <a:pt x="132842" y="711581"/>
                  </a:lnTo>
                  <a:cubicBezTo>
                    <a:pt x="59436" y="711581"/>
                    <a:pt x="0" y="652145"/>
                    <a:pt x="0" y="578739"/>
                  </a:cubicBezTo>
                  <a:close/>
                </a:path>
              </a:pathLst>
            </a:custGeom>
            <a:solidFill>
              <a:srgbClr val="F9D2D6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24281" cy="724281"/>
            </a:xfrm>
            <a:custGeom>
              <a:avLst/>
              <a:gdLst/>
              <a:ahLst/>
              <a:cxnLst/>
              <a:rect r="r" b="b" t="t" l="l"/>
              <a:pathLst>
                <a:path h="724281" w="724281">
                  <a:moveTo>
                    <a:pt x="0" y="139192"/>
                  </a:moveTo>
                  <a:cubicBezTo>
                    <a:pt x="0" y="62357"/>
                    <a:pt x="62357" y="0"/>
                    <a:pt x="139192" y="0"/>
                  </a:cubicBezTo>
                  <a:lnTo>
                    <a:pt x="585089" y="0"/>
                  </a:lnTo>
                  <a:lnTo>
                    <a:pt x="585089" y="6350"/>
                  </a:lnTo>
                  <a:lnTo>
                    <a:pt x="585089" y="0"/>
                  </a:lnTo>
                  <a:cubicBezTo>
                    <a:pt x="661924" y="0"/>
                    <a:pt x="724281" y="62357"/>
                    <a:pt x="724281" y="139192"/>
                  </a:cubicBezTo>
                  <a:lnTo>
                    <a:pt x="717931" y="139192"/>
                  </a:lnTo>
                  <a:lnTo>
                    <a:pt x="724281" y="139192"/>
                  </a:lnTo>
                  <a:lnTo>
                    <a:pt x="724281" y="585089"/>
                  </a:lnTo>
                  <a:lnTo>
                    <a:pt x="717931" y="585089"/>
                  </a:lnTo>
                  <a:lnTo>
                    <a:pt x="724281" y="585089"/>
                  </a:lnTo>
                  <a:cubicBezTo>
                    <a:pt x="724281" y="661924"/>
                    <a:pt x="661924" y="724281"/>
                    <a:pt x="585089" y="724281"/>
                  </a:cubicBezTo>
                  <a:lnTo>
                    <a:pt x="585089" y="717931"/>
                  </a:lnTo>
                  <a:lnTo>
                    <a:pt x="585089" y="724281"/>
                  </a:lnTo>
                  <a:lnTo>
                    <a:pt x="139192" y="724281"/>
                  </a:lnTo>
                  <a:lnTo>
                    <a:pt x="139192" y="717931"/>
                  </a:lnTo>
                  <a:lnTo>
                    <a:pt x="139192" y="724281"/>
                  </a:lnTo>
                  <a:cubicBezTo>
                    <a:pt x="62357" y="724281"/>
                    <a:pt x="0" y="661924"/>
                    <a:pt x="0" y="585089"/>
                  </a:cubicBezTo>
                  <a:lnTo>
                    <a:pt x="0" y="139192"/>
                  </a:lnTo>
                  <a:lnTo>
                    <a:pt x="6350" y="139192"/>
                  </a:lnTo>
                  <a:lnTo>
                    <a:pt x="0" y="139192"/>
                  </a:lnTo>
                  <a:moveTo>
                    <a:pt x="12700" y="139192"/>
                  </a:moveTo>
                  <a:lnTo>
                    <a:pt x="12700" y="585089"/>
                  </a:lnTo>
                  <a:lnTo>
                    <a:pt x="6350" y="585089"/>
                  </a:lnTo>
                  <a:lnTo>
                    <a:pt x="12700" y="585089"/>
                  </a:lnTo>
                  <a:cubicBezTo>
                    <a:pt x="12700" y="654939"/>
                    <a:pt x="69342" y="711581"/>
                    <a:pt x="139192" y="711581"/>
                  </a:cubicBezTo>
                  <a:lnTo>
                    <a:pt x="585089" y="711581"/>
                  </a:lnTo>
                  <a:cubicBezTo>
                    <a:pt x="654939" y="711581"/>
                    <a:pt x="711581" y="654939"/>
                    <a:pt x="711581" y="585089"/>
                  </a:cubicBezTo>
                  <a:lnTo>
                    <a:pt x="711581" y="139192"/>
                  </a:lnTo>
                  <a:cubicBezTo>
                    <a:pt x="711581" y="69342"/>
                    <a:pt x="654939" y="12700"/>
                    <a:pt x="585089" y="12700"/>
                  </a:cubicBezTo>
                  <a:lnTo>
                    <a:pt x="139192" y="12700"/>
                  </a:lnTo>
                  <a:lnTo>
                    <a:pt x="139192" y="6350"/>
                  </a:lnTo>
                  <a:lnTo>
                    <a:pt x="139192" y="12700"/>
                  </a:lnTo>
                  <a:cubicBezTo>
                    <a:pt x="69342" y="12700"/>
                    <a:pt x="12700" y="69342"/>
                    <a:pt x="12700" y="139192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8956774" y="7081168"/>
            <a:ext cx="374451" cy="429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9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889176" y="7072610"/>
            <a:ext cx="4068812" cy="40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62"/>
              </a:lnSpc>
            </a:pPr>
            <a:r>
              <a:rPr lang="en-US" sz="2437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Continuous Optimization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30164" y="7528769"/>
            <a:ext cx="7127825" cy="8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7"/>
              </a:lnSpc>
            </a:pPr>
            <a:r>
              <a:rPr lang="en-US" sz="1812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AI adapts your strategy based on real results, constantly improving performance.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30164" y="9161115"/>
            <a:ext cx="16627674" cy="369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7"/>
              </a:lnSpc>
            </a:pPr>
            <a:r>
              <a:rPr lang="en-US" b="true" sz="1812" i="true">
                <a:solidFill>
                  <a:srgbClr val="3B3535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Think of it as marketing agents working 24/7 while you focus on creating.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87475" y="2929532"/>
            <a:ext cx="5254973" cy="2787456"/>
            <a:chOff x="0" y="0"/>
            <a:chExt cx="7006630" cy="37166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" y="4779"/>
              <a:ext cx="6993890" cy="3707067"/>
            </a:xfrm>
            <a:custGeom>
              <a:avLst/>
              <a:gdLst/>
              <a:ahLst/>
              <a:cxnLst/>
              <a:rect r="r" b="b" t="t" l="l"/>
              <a:pathLst>
                <a:path h="3707067" w="6993890">
                  <a:moveTo>
                    <a:pt x="0" y="426787"/>
                  </a:moveTo>
                  <a:cubicBezTo>
                    <a:pt x="0" y="191074"/>
                    <a:pt x="254127" y="0"/>
                    <a:pt x="567436" y="0"/>
                  </a:cubicBezTo>
                  <a:lnTo>
                    <a:pt x="6426454" y="0"/>
                  </a:lnTo>
                  <a:cubicBezTo>
                    <a:pt x="6739890" y="0"/>
                    <a:pt x="6993890" y="191074"/>
                    <a:pt x="6993890" y="426787"/>
                  </a:cubicBezTo>
                  <a:lnTo>
                    <a:pt x="6993890" y="3280281"/>
                  </a:lnTo>
                  <a:cubicBezTo>
                    <a:pt x="6993890" y="3515994"/>
                    <a:pt x="6739763" y="3707068"/>
                    <a:pt x="6426454" y="3707068"/>
                  </a:cubicBezTo>
                  <a:lnTo>
                    <a:pt x="567436" y="3707068"/>
                  </a:lnTo>
                  <a:cubicBezTo>
                    <a:pt x="254127" y="3707068"/>
                    <a:pt x="0" y="3515994"/>
                    <a:pt x="0" y="3280281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006590" cy="3716632"/>
            </a:xfrm>
            <a:custGeom>
              <a:avLst/>
              <a:gdLst/>
              <a:ahLst/>
              <a:cxnLst/>
              <a:rect r="r" b="b" t="t" l="l"/>
              <a:pathLst>
                <a:path h="3716632" w="7006590">
                  <a:moveTo>
                    <a:pt x="0" y="431566"/>
                  </a:moveTo>
                  <a:cubicBezTo>
                    <a:pt x="0" y="193177"/>
                    <a:pt x="256921" y="0"/>
                    <a:pt x="573786" y="0"/>
                  </a:cubicBezTo>
                  <a:lnTo>
                    <a:pt x="6432804" y="0"/>
                  </a:lnTo>
                  <a:lnTo>
                    <a:pt x="6432804" y="4779"/>
                  </a:lnTo>
                  <a:lnTo>
                    <a:pt x="6432804" y="0"/>
                  </a:lnTo>
                  <a:cubicBezTo>
                    <a:pt x="6749669" y="0"/>
                    <a:pt x="7006590" y="193177"/>
                    <a:pt x="7006590" y="431566"/>
                  </a:cubicBezTo>
                  <a:lnTo>
                    <a:pt x="7000240" y="431566"/>
                  </a:lnTo>
                  <a:lnTo>
                    <a:pt x="7006590" y="431566"/>
                  </a:lnTo>
                  <a:lnTo>
                    <a:pt x="7006590" y="3285060"/>
                  </a:lnTo>
                  <a:lnTo>
                    <a:pt x="7000240" y="3285060"/>
                  </a:lnTo>
                  <a:lnTo>
                    <a:pt x="7006590" y="3285060"/>
                  </a:lnTo>
                  <a:cubicBezTo>
                    <a:pt x="7006590" y="3523449"/>
                    <a:pt x="6749669" y="3716632"/>
                    <a:pt x="6432804" y="3716632"/>
                  </a:cubicBezTo>
                  <a:lnTo>
                    <a:pt x="6432804" y="3711847"/>
                  </a:lnTo>
                  <a:lnTo>
                    <a:pt x="6432804" y="3716632"/>
                  </a:lnTo>
                  <a:lnTo>
                    <a:pt x="573786" y="3716632"/>
                  </a:lnTo>
                  <a:lnTo>
                    <a:pt x="573786" y="3711847"/>
                  </a:lnTo>
                  <a:lnTo>
                    <a:pt x="573786" y="3716632"/>
                  </a:lnTo>
                  <a:cubicBezTo>
                    <a:pt x="256921" y="3716632"/>
                    <a:pt x="0" y="3523354"/>
                    <a:pt x="0" y="3285060"/>
                  </a:cubicBezTo>
                  <a:lnTo>
                    <a:pt x="0" y="431566"/>
                  </a:lnTo>
                  <a:lnTo>
                    <a:pt x="6350" y="431566"/>
                  </a:lnTo>
                  <a:lnTo>
                    <a:pt x="0" y="431566"/>
                  </a:lnTo>
                  <a:moveTo>
                    <a:pt x="12700" y="431566"/>
                  </a:moveTo>
                  <a:lnTo>
                    <a:pt x="12700" y="3285060"/>
                  </a:lnTo>
                  <a:lnTo>
                    <a:pt x="6350" y="3285060"/>
                  </a:lnTo>
                  <a:lnTo>
                    <a:pt x="12700" y="3285060"/>
                  </a:lnTo>
                  <a:cubicBezTo>
                    <a:pt x="12700" y="3518096"/>
                    <a:pt x="263906" y="3707068"/>
                    <a:pt x="573786" y="3707068"/>
                  </a:cubicBezTo>
                  <a:lnTo>
                    <a:pt x="6432804" y="3707068"/>
                  </a:lnTo>
                  <a:cubicBezTo>
                    <a:pt x="6742684" y="3707068"/>
                    <a:pt x="6993890" y="3518096"/>
                    <a:pt x="6993890" y="3285060"/>
                  </a:cubicBezTo>
                  <a:lnTo>
                    <a:pt x="6993890" y="431566"/>
                  </a:lnTo>
                  <a:cubicBezTo>
                    <a:pt x="6993890" y="198530"/>
                    <a:pt x="6742684" y="9558"/>
                    <a:pt x="6432804" y="9558"/>
                  </a:cubicBezTo>
                  <a:lnTo>
                    <a:pt x="573786" y="9558"/>
                  </a:lnTo>
                  <a:lnTo>
                    <a:pt x="573786" y="4779"/>
                  </a:lnTo>
                  <a:lnTo>
                    <a:pt x="573786" y="9558"/>
                  </a:lnTo>
                  <a:cubicBezTo>
                    <a:pt x="263906" y="9558"/>
                    <a:pt x="12700" y="198530"/>
                    <a:pt x="12700" y="431566"/>
                  </a:cubicBezTo>
                  <a:close/>
                </a:path>
              </a:pathLst>
            </a:custGeom>
            <a:solidFill>
              <a:srgbClr val="B3D5E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6516440" y="2929532"/>
            <a:ext cx="5254973" cy="2787456"/>
            <a:chOff x="0" y="0"/>
            <a:chExt cx="7006630" cy="37166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" y="4779"/>
              <a:ext cx="6993890" cy="3707067"/>
            </a:xfrm>
            <a:custGeom>
              <a:avLst/>
              <a:gdLst/>
              <a:ahLst/>
              <a:cxnLst/>
              <a:rect r="r" b="b" t="t" l="l"/>
              <a:pathLst>
                <a:path h="3707067" w="6993890">
                  <a:moveTo>
                    <a:pt x="0" y="426787"/>
                  </a:moveTo>
                  <a:cubicBezTo>
                    <a:pt x="0" y="191074"/>
                    <a:pt x="254127" y="0"/>
                    <a:pt x="567436" y="0"/>
                  </a:cubicBezTo>
                  <a:lnTo>
                    <a:pt x="6426454" y="0"/>
                  </a:lnTo>
                  <a:cubicBezTo>
                    <a:pt x="6739890" y="0"/>
                    <a:pt x="6993890" y="191074"/>
                    <a:pt x="6993890" y="426787"/>
                  </a:cubicBezTo>
                  <a:lnTo>
                    <a:pt x="6993890" y="3280281"/>
                  </a:lnTo>
                  <a:cubicBezTo>
                    <a:pt x="6993890" y="3515994"/>
                    <a:pt x="6739763" y="3707068"/>
                    <a:pt x="6426454" y="3707068"/>
                  </a:cubicBezTo>
                  <a:lnTo>
                    <a:pt x="567436" y="3707068"/>
                  </a:lnTo>
                  <a:cubicBezTo>
                    <a:pt x="254127" y="3707068"/>
                    <a:pt x="0" y="3515994"/>
                    <a:pt x="0" y="3280281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006590" cy="3716632"/>
            </a:xfrm>
            <a:custGeom>
              <a:avLst/>
              <a:gdLst/>
              <a:ahLst/>
              <a:cxnLst/>
              <a:rect r="r" b="b" t="t" l="l"/>
              <a:pathLst>
                <a:path h="3716632" w="7006590">
                  <a:moveTo>
                    <a:pt x="0" y="431566"/>
                  </a:moveTo>
                  <a:cubicBezTo>
                    <a:pt x="0" y="193177"/>
                    <a:pt x="256921" y="0"/>
                    <a:pt x="573786" y="0"/>
                  </a:cubicBezTo>
                  <a:lnTo>
                    <a:pt x="6432804" y="0"/>
                  </a:lnTo>
                  <a:lnTo>
                    <a:pt x="6432804" y="4779"/>
                  </a:lnTo>
                  <a:lnTo>
                    <a:pt x="6432804" y="0"/>
                  </a:lnTo>
                  <a:cubicBezTo>
                    <a:pt x="6749669" y="0"/>
                    <a:pt x="7006590" y="193177"/>
                    <a:pt x="7006590" y="431566"/>
                  </a:cubicBezTo>
                  <a:lnTo>
                    <a:pt x="7000240" y="431566"/>
                  </a:lnTo>
                  <a:lnTo>
                    <a:pt x="7006590" y="431566"/>
                  </a:lnTo>
                  <a:lnTo>
                    <a:pt x="7006590" y="3285060"/>
                  </a:lnTo>
                  <a:lnTo>
                    <a:pt x="7000240" y="3285060"/>
                  </a:lnTo>
                  <a:lnTo>
                    <a:pt x="7006590" y="3285060"/>
                  </a:lnTo>
                  <a:cubicBezTo>
                    <a:pt x="7006590" y="3523449"/>
                    <a:pt x="6749669" y="3716632"/>
                    <a:pt x="6432804" y="3716632"/>
                  </a:cubicBezTo>
                  <a:lnTo>
                    <a:pt x="6432804" y="3711847"/>
                  </a:lnTo>
                  <a:lnTo>
                    <a:pt x="6432804" y="3716632"/>
                  </a:lnTo>
                  <a:lnTo>
                    <a:pt x="573786" y="3716632"/>
                  </a:lnTo>
                  <a:lnTo>
                    <a:pt x="573786" y="3711847"/>
                  </a:lnTo>
                  <a:lnTo>
                    <a:pt x="573786" y="3716632"/>
                  </a:lnTo>
                  <a:cubicBezTo>
                    <a:pt x="256921" y="3716632"/>
                    <a:pt x="0" y="3523354"/>
                    <a:pt x="0" y="3285060"/>
                  </a:cubicBezTo>
                  <a:lnTo>
                    <a:pt x="0" y="431566"/>
                  </a:lnTo>
                  <a:lnTo>
                    <a:pt x="6350" y="431566"/>
                  </a:lnTo>
                  <a:lnTo>
                    <a:pt x="0" y="431566"/>
                  </a:lnTo>
                  <a:moveTo>
                    <a:pt x="12700" y="431566"/>
                  </a:moveTo>
                  <a:lnTo>
                    <a:pt x="12700" y="3285060"/>
                  </a:lnTo>
                  <a:lnTo>
                    <a:pt x="6350" y="3285060"/>
                  </a:lnTo>
                  <a:lnTo>
                    <a:pt x="12700" y="3285060"/>
                  </a:lnTo>
                  <a:cubicBezTo>
                    <a:pt x="12700" y="3518096"/>
                    <a:pt x="263906" y="3707068"/>
                    <a:pt x="573786" y="3707068"/>
                  </a:cubicBezTo>
                  <a:lnTo>
                    <a:pt x="6432804" y="3707068"/>
                  </a:lnTo>
                  <a:cubicBezTo>
                    <a:pt x="6742684" y="3707068"/>
                    <a:pt x="6993890" y="3518096"/>
                    <a:pt x="6993890" y="3285060"/>
                  </a:cubicBezTo>
                  <a:lnTo>
                    <a:pt x="6993890" y="431566"/>
                  </a:lnTo>
                  <a:cubicBezTo>
                    <a:pt x="6993890" y="198530"/>
                    <a:pt x="6742684" y="9558"/>
                    <a:pt x="6432804" y="9558"/>
                  </a:cubicBezTo>
                  <a:lnTo>
                    <a:pt x="573786" y="9558"/>
                  </a:lnTo>
                  <a:lnTo>
                    <a:pt x="573786" y="4779"/>
                  </a:lnTo>
                  <a:lnTo>
                    <a:pt x="573786" y="9558"/>
                  </a:lnTo>
                  <a:cubicBezTo>
                    <a:pt x="263906" y="9558"/>
                    <a:pt x="12700" y="198530"/>
                    <a:pt x="12700" y="431566"/>
                  </a:cubicBezTo>
                  <a:close/>
                </a:path>
              </a:pathLst>
            </a:custGeom>
            <a:solidFill>
              <a:srgbClr val="B3D5E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045404" y="2929532"/>
            <a:ext cx="5254973" cy="2787456"/>
            <a:chOff x="0" y="0"/>
            <a:chExt cx="7006630" cy="3716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4779"/>
              <a:ext cx="6993890" cy="3707067"/>
            </a:xfrm>
            <a:custGeom>
              <a:avLst/>
              <a:gdLst/>
              <a:ahLst/>
              <a:cxnLst/>
              <a:rect r="r" b="b" t="t" l="l"/>
              <a:pathLst>
                <a:path h="3707067" w="6993890">
                  <a:moveTo>
                    <a:pt x="0" y="426787"/>
                  </a:moveTo>
                  <a:cubicBezTo>
                    <a:pt x="0" y="191074"/>
                    <a:pt x="254127" y="0"/>
                    <a:pt x="567436" y="0"/>
                  </a:cubicBezTo>
                  <a:lnTo>
                    <a:pt x="6426454" y="0"/>
                  </a:lnTo>
                  <a:cubicBezTo>
                    <a:pt x="6739890" y="0"/>
                    <a:pt x="6993890" y="191074"/>
                    <a:pt x="6993890" y="426787"/>
                  </a:cubicBezTo>
                  <a:lnTo>
                    <a:pt x="6993890" y="3280281"/>
                  </a:lnTo>
                  <a:cubicBezTo>
                    <a:pt x="6993890" y="3515994"/>
                    <a:pt x="6739763" y="3707068"/>
                    <a:pt x="6426454" y="3707068"/>
                  </a:cubicBezTo>
                  <a:lnTo>
                    <a:pt x="567436" y="3707068"/>
                  </a:lnTo>
                  <a:cubicBezTo>
                    <a:pt x="254127" y="3707068"/>
                    <a:pt x="0" y="3515994"/>
                    <a:pt x="0" y="3280281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006590" cy="3716632"/>
            </a:xfrm>
            <a:custGeom>
              <a:avLst/>
              <a:gdLst/>
              <a:ahLst/>
              <a:cxnLst/>
              <a:rect r="r" b="b" t="t" l="l"/>
              <a:pathLst>
                <a:path h="3716632" w="7006590">
                  <a:moveTo>
                    <a:pt x="0" y="431566"/>
                  </a:moveTo>
                  <a:cubicBezTo>
                    <a:pt x="0" y="193177"/>
                    <a:pt x="256921" y="0"/>
                    <a:pt x="573786" y="0"/>
                  </a:cubicBezTo>
                  <a:lnTo>
                    <a:pt x="6432804" y="0"/>
                  </a:lnTo>
                  <a:lnTo>
                    <a:pt x="6432804" y="4779"/>
                  </a:lnTo>
                  <a:lnTo>
                    <a:pt x="6432804" y="0"/>
                  </a:lnTo>
                  <a:cubicBezTo>
                    <a:pt x="6749669" y="0"/>
                    <a:pt x="7006590" y="193177"/>
                    <a:pt x="7006590" y="431566"/>
                  </a:cubicBezTo>
                  <a:lnTo>
                    <a:pt x="7000240" y="431566"/>
                  </a:lnTo>
                  <a:lnTo>
                    <a:pt x="7006590" y="431566"/>
                  </a:lnTo>
                  <a:lnTo>
                    <a:pt x="7006590" y="3285060"/>
                  </a:lnTo>
                  <a:lnTo>
                    <a:pt x="7000240" y="3285060"/>
                  </a:lnTo>
                  <a:lnTo>
                    <a:pt x="7006590" y="3285060"/>
                  </a:lnTo>
                  <a:cubicBezTo>
                    <a:pt x="7006590" y="3523449"/>
                    <a:pt x="6749669" y="3716632"/>
                    <a:pt x="6432804" y="3716632"/>
                  </a:cubicBezTo>
                  <a:lnTo>
                    <a:pt x="6432804" y="3711847"/>
                  </a:lnTo>
                  <a:lnTo>
                    <a:pt x="6432804" y="3716632"/>
                  </a:lnTo>
                  <a:lnTo>
                    <a:pt x="573786" y="3716632"/>
                  </a:lnTo>
                  <a:lnTo>
                    <a:pt x="573786" y="3711847"/>
                  </a:lnTo>
                  <a:lnTo>
                    <a:pt x="573786" y="3716632"/>
                  </a:lnTo>
                  <a:cubicBezTo>
                    <a:pt x="256921" y="3716632"/>
                    <a:pt x="0" y="3523354"/>
                    <a:pt x="0" y="3285060"/>
                  </a:cubicBezTo>
                  <a:lnTo>
                    <a:pt x="0" y="431566"/>
                  </a:lnTo>
                  <a:lnTo>
                    <a:pt x="6350" y="431566"/>
                  </a:lnTo>
                  <a:lnTo>
                    <a:pt x="0" y="431566"/>
                  </a:lnTo>
                  <a:moveTo>
                    <a:pt x="12700" y="431566"/>
                  </a:moveTo>
                  <a:lnTo>
                    <a:pt x="12700" y="3285060"/>
                  </a:lnTo>
                  <a:lnTo>
                    <a:pt x="6350" y="3285060"/>
                  </a:lnTo>
                  <a:lnTo>
                    <a:pt x="12700" y="3285060"/>
                  </a:lnTo>
                  <a:cubicBezTo>
                    <a:pt x="12700" y="3518096"/>
                    <a:pt x="263906" y="3707068"/>
                    <a:pt x="573786" y="3707068"/>
                  </a:cubicBezTo>
                  <a:lnTo>
                    <a:pt x="6432804" y="3707068"/>
                  </a:lnTo>
                  <a:cubicBezTo>
                    <a:pt x="6742684" y="3707068"/>
                    <a:pt x="6993890" y="3518096"/>
                    <a:pt x="6993890" y="3285060"/>
                  </a:cubicBezTo>
                  <a:lnTo>
                    <a:pt x="6993890" y="431566"/>
                  </a:lnTo>
                  <a:cubicBezTo>
                    <a:pt x="6993890" y="198530"/>
                    <a:pt x="6742684" y="9558"/>
                    <a:pt x="6432804" y="9558"/>
                  </a:cubicBezTo>
                  <a:lnTo>
                    <a:pt x="573786" y="9558"/>
                  </a:lnTo>
                  <a:lnTo>
                    <a:pt x="573786" y="4779"/>
                  </a:lnTo>
                  <a:lnTo>
                    <a:pt x="573786" y="9558"/>
                  </a:lnTo>
                  <a:cubicBezTo>
                    <a:pt x="263906" y="9558"/>
                    <a:pt x="12700" y="198530"/>
                    <a:pt x="12700" y="431566"/>
                  </a:cubicBezTo>
                  <a:close/>
                </a:path>
              </a:pathLst>
            </a:custGeom>
            <a:solidFill>
              <a:srgbClr val="B3D5E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87475" y="6050363"/>
            <a:ext cx="8019455" cy="2759983"/>
            <a:chOff x="0" y="0"/>
            <a:chExt cx="10692607" cy="36799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5393"/>
              <a:ext cx="10679938" cy="3669159"/>
            </a:xfrm>
            <a:custGeom>
              <a:avLst/>
              <a:gdLst/>
              <a:ahLst/>
              <a:cxnLst/>
              <a:rect r="r" b="b" t="t" l="l"/>
              <a:pathLst>
                <a:path h="3669159" w="10679938">
                  <a:moveTo>
                    <a:pt x="0" y="481563"/>
                  </a:moveTo>
                  <a:cubicBezTo>
                    <a:pt x="0" y="215598"/>
                    <a:pt x="254381" y="0"/>
                    <a:pt x="568071" y="0"/>
                  </a:cubicBezTo>
                  <a:lnTo>
                    <a:pt x="10111867" y="0"/>
                  </a:lnTo>
                  <a:cubicBezTo>
                    <a:pt x="10425557" y="0"/>
                    <a:pt x="10679938" y="215598"/>
                    <a:pt x="10679938" y="481563"/>
                  </a:cubicBezTo>
                  <a:lnTo>
                    <a:pt x="10679938" y="3187594"/>
                  </a:lnTo>
                  <a:cubicBezTo>
                    <a:pt x="10679938" y="3453560"/>
                    <a:pt x="10425557" y="3669158"/>
                    <a:pt x="10111867" y="3669158"/>
                  </a:cubicBezTo>
                  <a:lnTo>
                    <a:pt x="568071" y="3669158"/>
                  </a:lnTo>
                  <a:cubicBezTo>
                    <a:pt x="254381" y="3669158"/>
                    <a:pt x="0" y="3453560"/>
                    <a:pt x="0" y="3187594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92638" cy="3679944"/>
            </a:xfrm>
            <a:custGeom>
              <a:avLst/>
              <a:gdLst/>
              <a:ahLst/>
              <a:cxnLst/>
              <a:rect r="r" b="b" t="t" l="l"/>
              <a:pathLst>
                <a:path h="3679944" w="10692638">
                  <a:moveTo>
                    <a:pt x="0" y="486956"/>
                  </a:moveTo>
                  <a:cubicBezTo>
                    <a:pt x="0" y="217971"/>
                    <a:pt x="257175" y="0"/>
                    <a:pt x="574421" y="0"/>
                  </a:cubicBezTo>
                  <a:lnTo>
                    <a:pt x="10118217" y="0"/>
                  </a:lnTo>
                  <a:lnTo>
                    <a:pt x="10118217" y="5393"/>
                  </a:lnTo>
                  <a:lnTo>
                    <a:pt x="10118217" y="0"/>
                  </a:lnTo>
                  <a:cubicBezTo>
                    <a:pt x="10435463" y="0"/>
                    <a:pt x="10692638" y="217971"/>
                    <a:pt x="10692638" y="486956"/>
                  </a:cubicBezTo>
                  <a:lnTo>
                    <a:pt x="10686288" y="486956"/>
                  </a:lnTo>
                  <a:lnTo>
                    <a:pt x="10692638" y="486956"/>
                  </a:lnTo>
                  <a:lnTo>
                    <a:pt x="10692638" y="3192987"/>
                  </a:lnTo>
                  <a:lnTo>
                    <a:pt x="10686288" y="3192987"/>
                  </a:lnTo>
                  <a:lnTo>
                    <a:pt x="10692638" y="3192987"/>
                  </a:lnTo>
                  <a:cubicBezTo>
                    <a:pt x="10692638" y="3461973"/>
                    <a:pt x="10435463" y="3679944"/>
                    <a:pt x="10118217" y="3679944"/>
                  </a:cubicBezTo>
                  <a:lnTo>
                    <a:pt x="10118217" y="3674551"/>
                  </a:lnTo>
                  <a:lnTo>
                    <a:pt x="10118217" y="3679944"/>
                  </a:lnTo>
                  <a:lnTo>
                    <a:pt x="574421" y="3679944"/>
                  </a:lnTo>
                  <a:lnTo>
                    <a:pt x="574421" y="3674551"/>
                  </a:lnTo>
                  <a:lnTo>
                    <a:pt x="574421" y="3679944"/>
                  </a:lnTo>
                  <a:cubicBezTo>
                    <a:pt x="257175" y="3679944"/>
                    <a:pt x="0" y="3461973"/>
                    <a:pt x="0" y="3192987"/>
                  </a:cubicBezTo>
                  <a:lnTo>
                    <a:pt x="0" y="486956"/>
                  </a:lnTo>
                  <a:lnTo>
                    <a:pt x="6350" y="486956"/>
                  </a:lnTo>
                  <a:lnTo>
                    <a:pt x="0" y="486956"/>
                  </a:lnTo>
                  <a:moveTo>
                    <a:pt x="12700" y="486956"/>
                  </a:moveTo>
                  <a:lnTo>
                    <a:pt x="12700" y="3192987"/>
                  </a:lnTo>
                  <a:lnTo>
                    <a:pt x="6350" y="3192987"/>
                  </a:lnTo>
                  <a:lnTo>
                    <a:pt x="12700" y="3192987"/>
                  </a:lnTo>
                  <a:cubicBezTo>
                    <a:pt x="12700" y="3455933"/>
                    <a:pt x="264160" y="3669159"/>
                    <a:pt x="574421" y="3669159"/>
                  </a:cubicBezTo>
                  <a:lnTo>
                    <a:pt x="10118217" y="3669159"/>
                  </a:lnTo>
                  <a:cubicBezTo>
                    <a:pt x="10428478" y="3669159"/>
                    <a:pt x="10679938" y="3455933"/>
                    <a:pt x="10679938" y="3192987"/>
                  </a:cubicBezTo>
                  <a:lnTo>
                    <a:pt x="10679938" y="486956"/>
                  </a:lnTo>
                  <a:cubicBezTo>
                    <a:pt x="10679938" y="224011"/>
                    <a:pt x="10428478" y="10785"/>
                    <a:pt x="10118217" y="10785"/>
                  </a:cubicBezTo>
                  <a:lnTo>
                    <a:pt x="574421" y="10785"/>
                  </a:lnTo>
                  <a:lnTo>
                    <a:pt x="574421" y="5393"/>
                  </a:lnTo>
                  <a:lnTo>
                    <a:pt x="574421" y="10785"/>
                  </a:lnTo>
                  <a:cubicBezTo>
                    <a:pt x="264160" y="10785"/>
                    <a:pt x="12700" y="224011"/>
                    <a:pt x="12700" y="486956"/>
                  </a:cubicBezTo>
                  <a:close/>
                </a:path>
              </a:pathLst>
            </a:custGeom>
            <a:solidFill>
              <a:srgbClr val="B3D5E4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9280922" y="6050363"/>
            <a:ext cx="8019455" cy="2759983"/>
            <a:chOff x="0" y="0"/>
            <a:chExt cx="10692607" cy="36799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" y="5393"/>
              <a:ext cx="10679938" cy="3669159"/>
            </a:xfrm>
            <a:custGeom>
              <a:avLst/>
              <a:gdLst/>
              <a:ahLst/>
              <a:cxnLst/>
              <a:rect r="r" b="b" t="t" l="l"/>
              <a:pathLst>
                <a:path h="3669159" w="10679938">
                  <a:moveTo>
                    <a:pt x="0" y="481563"/>
                  </a:moveTo>
                  <a:cubicBezTo>
                    <a:pt x="0" y="215598"/>
                    <a:pt x="254381" y="0"/>
                    <a:pt x="568071" y="0"/>
                  </a:cubicBezTo>
                  <a:lnTo>
                    <a:pt x="10111867" y="0"/>
                  </a:lnTo>
                  <a:cubicBezTo>
                    <a:pt x="10425557" y="0"/>
                    <a:pt x="10679938" y="215598"/>
                    <a:pt x="10679938" y="481563"/>
                  </a:cubicBezTo>
                  <a:lnTo>
                    <a:pt x="10679938" y="3187594"/>
                  </a:lnTo>
                  <a:cubicBezTo>
                    <a:pt x="10679938" y="3453560"/>
                    <a:pt x="10425557" y="3669158"/>
                    <a:pt x="10111867" y="3669158"/>
                  </a:cubicBezTo>
                  <a:lnTo>
                    <a:pt x="568071" y="3669158"/>
                  </a:lnTo>
                  <a:cubicBezTo>
                    <a:pt x="254381" y="3669158"/>
                    <a:pt x="0" y="3453560"/>
                    <a:pt x="0" y="3187594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92638" cy="3679944"/>
            </a:xfrm>
            <a:custGeom>
              <a:avLst/>
              <a:gdLst/>
              <a:ahLst/>
              <a:cxnLst/>
              <a:rect r="r" b="b" t="t" l="l"/>
              <a:pathLst>
                <a:path h="3679944" w="10692638">
                  <a:moveTo>
                    <a:pt x="0" y="486956"/>
                  </a:moveTo>
                  <a:cubicBezTo>
                    <a:pt x="0" y="217971"/>
                    <a:pt x="257175" y="0"/>
                    <a:pt x="574421" y="0"/>
                  </a:cubicBezTo>
                  <a:lnTo>
                    <a:pt x="10118217" y="0"/>
                  </a:lnTo>
                  <a:lnTo>
                    <a:pt x="10118217" y="5393"/>
                  </a:lnTo>
                  <a:lnTo>
                    <a:pt x="10118217" y="0"/>
                  </a:lnTo>
                  <a:cubicBezTo>
                    <a:pt x="10435463" y="0"/>
                    <a:pt x="10692638" y="217971"/>
                    <a:pt x="10692638" y="486956"/>
                  </a:cubicBezTo>
                  <a:lnTo>
                    <a:pt x="10686288" y="486956"/>
                  </a:lnTo>
                  <a:lnTo>
                    <a:pt x="10692638" y="486956"/>
                  </a:lnTo>
                  <a:lnTo>
                    <a:pt x="10692638" y="3192987"/>
                  </a:lnTo>
                  <a:lnTo>
                    <a:pt x="10686288" y="3192987"/>
                  </a:lnTo>
                  <a:lnTo>
                    <a:pt x="10692638" y="3192987"/>
                  </a:lnTo>
                  <a:cubicBezTo>
                    <a:pt x="10692638" y="3461973"/>
                    <a:pt x="10435463" y="3679944"/>
                    <a:pt x="10118217" y="3679944"/>
                  </a:cubicBezTo>
                  <a:lnTo>
                    <a:pt x="10118217" y="3674551"/>
                  </a:lnTo>
                  <a:lnTo>
                    <a:pt x="10118217" y="3679944"/>
                  </a:lnTo>
                  <a:lnTo>
                    <a:pt x="574421" y="3679944"/>
                  </a:lnTo>
                  <a:lnTo>
                    <a:pt x="574421" y="3674551"/>
                  </a:lnTo>
                  <a:lnTo>
                    <a:pt x="574421" y="3679944"/>
                  </a:lnTo>
                  <a:cubicBezTo>
                    <a:pt x="257175" y="3679944"/>
                    <a:pt x="0" y="3461973"/>
                    <a:pt x="0" y="3192987"/>
                  </a:cubicBezTo>
                  <a:lnTo>
                    <a:pt x="0" y="486956"/>
                  </a:lnTo>
                  <a:lnTo>
                    <a:pt x="6350" y="486956"/>
                  </a:lnTo>
                  <a:lnTo>
                    <a:pt x="0" y="486956"/>
                  </a:lnTo>
                  <a:moveTo>
                    <a:pt x="12700" y="486956"/>
                  </a:moveTo>
                  <a:lnTo>
                    <a:pt x="12700" y="3192987"/>
                  </a:lnTo>
                  <a:lnTo>
                    <a:pt x="6350" y="3192987"/>
                  </a:lnTo>
                  <a:lnTo>
                    <a:pt x="12700" y="3192987"/>
                  </a:lnTo>
                  <a:cubicBezTo>
                    <a:pt x="12700" y="3455933"/>
                    <a:pt x="264160" y="3669159"/>
                    <a:pt x="574421" y="3669159"/>
                  </a:cubicBezTo>
                  <a:lnTo>
                    <a:pt x="10118217" y="3669159"/>
                  </a:lnTo>
                  <a:cubicBezTo>
                    <a:pt x="10428478" y="3669159"/>
                    <a:pt x="10679938" y="3455933"/>
                    <a:pt x="10679938" y="3192987"/>
                  </a:cubicBezTo>
                  <a:lnTo>
                    <a:pt x="10679938" y="486956"/>
                  </a:lnTo>
                  <a:cubicBezTo>
                    <a:pt x="10679938" y="224011"/>
                    <a:pt x="10428478" y="10785"/>
                    <a:pt x="10118217" y="10785"/>
                  </a:cubicBezTo>
                  <a:lnTo>
                    <a:pt x="574421" y="10785"/>
                  </a:lnTo>
                  <a:lnTo>
                    <a:pt x="574421" y="5393"/>
                  </a:lnTo>
                  <a:lnTo>
                    <a:pt x="574421" y="10785"/>
                  </a:lnTo>
                  <a:cubicBezTo>
                    <a:pt x="264160" y="10785"/>
                    <a:pt x="12700" y="224011"/>
                    <a:pt x="12700" y="486956"/>
                  </a:cubicBezTo>
                  <a:close/>
                </a:path>
              </a:pathLst>
            </a:custGeom>
            <a:solidFill>
              <a:srgbClr val="B3D5E4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992237" y="877491"/>
            <a:ext cx="2825651" cy="69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62"/>
              </a:lnSpc>
            </a:pPr>
            <a:r>
              <a:rPr lang="en-US" sz="4437" b="true">
                <a:solidFill>
                  <a:srgbClr val="5B6E8C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</a:t>
            </a:r>
            <a:r>
              <a:rPr lang="en-US" sz="4437" b="true">
                <a:solidFill>
                  <a:srgbClr val="5B6E8C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 Agents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280" y="3412362"/>
            <a:ext cx="2640434" cy="49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4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Strategy Ag</a:t>
            </a:r>
            <a:r>
              <a:rPr lang="en-US" sz="264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5280" y="3977759"/>
            <a:ext cx="4659362" cy="131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</a:t>
            </a: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latform prioritization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Posting cadence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Revenue-aligned goals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14245" y="3412362"/>
            <a:ext cx="2493690" cy="49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4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Content Age</a:t>
            </a:r>
            <a:r>
              <a:rPr lang="en-US" sz="264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814245" y="3977759"/>
            <a:ext cx="4659362" cy="131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</a:t>
            </a: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latform-specific posts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Emails and outreach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Brand-aligned tone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43210" y="3412362"/>
            <a:ext cx="2731591" cy="49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4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Exec</a:t>
            </a:r>
            <a:r>
              <a:rPr lang="en-US" sz="264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ution Agent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43210" y="3977759"/>
            <a:ext cx="4659362" cy="131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Sch</a:t>
            </a: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eduling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Email sequences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Follow-ups and reminders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5280" y="6529738"/>
            <a:ext cx="2647727" cy="49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4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Analytics Agent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5280" y="7056915"/>
            <a:ext cx="7423845" cy="131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</a:t>
            </a: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racks conversions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Explains what works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Adjusts strategy automatically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78728" y="6529738"/>
            <a:ext cx="4126781" cy="49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64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Local O</a:t>
            </a:r>
            <a:r>
              <a:rPr lang="en-US" sz="264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pportunity Agent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78728" y="7056915"/>
            <a:ext cx="7680572" cy="1315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Finds ne</a:t>
            </a: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arby events and fairs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Matches by business type</a:t>
            </a:r>
          </a:p>
          <a:p>
            <a:pPr algn="l" marL="450692" indent="-225346" lvl="1">
              <a:lnSpc>
                <a:spcPts val="3398"/>
              </a:lnSpc>
              <a:buFont typeface="Arial"/>
              <a:buChar char="•"/>
            </a:pPr>
            <a:r>
              <a:rPr lang="en-US" sz="20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Surfaces high-conversion channels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57759" y="1753036"/>
            <a:ext cx="16242618" cy="46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09"/>
              </a:lnSpc>
            </a:pPr>
            <a:r>
              <a:rPr lang="en-US" sz="2487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 breakdown of our architecture.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47886" y="1464469"/>
            <a:ext cx="7126932" cy="95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b="true" sz="5562">
                <a:solidFill>
                  <a:srgbClr val="5B6E8C"/>
                </a:solidFill>
                <a:latin typeface="Arimo Bold"/>
                <a:ea typeface="Arimo Bold"/>
                <a:cs typeface="Arimo Bold"/>
                <a:sym typeface="Arimo Bold"/>
              </a:rPr>
              <a:t>The Impact</a:t>
            </a:r>
          </a:p>
        </p:txBody>
      </p:sp>
      <p:sp>
        <p:nvSpPr>
          <p:cNvPr name="Freeform 3" id="3" descr="preencoded.png"/>
          <p:cNvSpPr/>
          <p:nvPr/>
        </p:nvSpPr>
        <p:spPr>
          <a:xfrm flipH="false" flipV="false" rot="0">
            <a:off x="947886" y="2963615"/>
            <a:ext cx="812452" cy="812453"/>
          </a:xfrm>
          <a:custGeom>
            <a:avLst/>
            <a:gdLst/>
            <a:ahLst/>
            <a:cxnLst/>
            <a:rect r="r" b="b" t="t" l="l"/>
            <a:pathLst>
              <a:path h="812453" w="812452">
                <a:moveTo>
                  <a:pt x="0" y="0"/>
                </a:moveTo>
                <a:lnTo>
                  <a:pt x="812453" y="0"/>
                </a:lnTo>
                <a:lnTo>
                  <a:pt x="812453" y="812453"/>
                </a:lnTo>
                <a:lnTo>
                  <a:pt x="0" y="8124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47886" y="4009727"/>
            <a:ext cx="3180159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Less Time Guessing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7886" y="4579293"/>
            <a:ext cx="80268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Stop wondering what to post or where to advertise. Our AI handles strategy so you can focus on creating.</a:t>
            </a:r>
          </a:p>
        </p:txBody>
      </p:sp>
      <p:sp>
        <p:nvSpPr>
          <p:cNvPr name="Freeform 6" id="6" descr="preencoded.png"/>
          <p:cNvSpPr/>
          <p:nvPr/>
        </p:nvSpPr>
        <p:spPr>
          <a:xfrm flipH="false" flipV="false" rot="0">
            <a:off x="9313217" y="2963615"/>
            <a:ext cx="812452" cy="812453"/>
          </a:xfrm>
          <a:custGeom>
            <a:avLst/>
            <a:gdLst/>
            <a:ahLst/>
            <a:cxnLst/>
            <a:rect r="r" b="b" t="t" l="l"/>
            <a:pathLst>
              <a:path h="812453" w="812452">
                <a:moveTo>
                  <a:pt x="0" y="0"/>
                </a:moveTo>
                <a:lnTo>
                  <a:pt x="812453" y="0"/>
                </a:lnTo>
                <a:lnTo>
                  <a:pt x="812453" y="812453"/>
                </a:lnTo>
                <a:lnTo>
                  <a:pt x="0" y="8124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4651" t="0" r="-4651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313218" y="4009727"/>
            <a:ext cx="3066678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Consistent Income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13218" y="4579293"/>
            <a:ext cx="80268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Transform marketing from a cost center into a predictable growth engine that brings in paying customers.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47886" y="6130529"/>
            <a:ext cx="812452" cy="812453"/>
          </a:xfrm>
          <a:custGeom>
            <a:avLst/>
            <a:gdLst/>
            <a:ahLst/>
            <a:cxnLst/>
            <a:rect r="r" b="b" t="t" l="l"/>
            <a:pathLst>
              <a:path h="812453" w="812452">
                <a:moveTo>
                  <a:pt x="0" y="0"/>
                </a:moveTo>
                <a:lnTo>
                  <a:pt x="812453" y="0"/>
                </a:lnTo>
                <a:lnTo>
                  <a:pt x="812453" y="812452"/>
                </a:lnTo>
                <a:lnTo>
                  <a:pt x="0" y="812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47886" y="7176641"/>
            <a:ext cx="2287191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Clear Visibility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7886" y="7746206"/>
            <a:ext cx="80268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Finally understand what actually works with metrics tied to revenue, not just engagement.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313217" y="6130529"/>
            <a:ext cx="812452" cy="812453"/>
          </a:xfrm>
          <a:custGeom>
            <a:avLst/>
            <a:gdLst/>
            <a:ahLst/>
            <a:cxnLst/>
            <a:rect r="r" b="b" t="t" l="l"/>
            <a:pathLst>
              <a:path h="812453" w="812452">
                <a:moveTo>
                  <a:pt x="0" y="0"/>
                </a:moveTo>
                <a:lnTo>
                  <a:pt x="812453" y="0"/>
                </a:lnTo>
                <a:lnTo>
                  <a:pt x="812453" y="812452"/>
                </a:lnTo>
                <a:lnTo>
                  <a:pt x="0" y="8124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8720" r="0" b="-872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9313218" y="7176641"/>
            <a:ext cx="3363516" cy="51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750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Focus on Your Craft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13218" y="7746206"/>
            <a:ext cx="8026896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125">
                <a:solidFill>
                  <a:srgbClr val="3B3535"/>
                </a:solidFill>
                <a:latin typeface="Agrandir"/>
                <a:ea typeface="Agrandir"/>
                <a:cs typeface="Agrandir"/>
                <a:sym typeface="Agrandir"/>
              </a:rPr>
              <a:t>Do what you do best — create amazing work. Let AI handle the marketing that turns your art into income.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3064669"/>
            <a:chOff x="0" y="0"/>
            <a:chExt cx="24384000" cy="4086225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4086225"/>
            </a:xfrm>
            <a:custGeom>
              <a:avLst/>
              <a:gdLst/>
              <a:ahLst/>
              <a:cxnLst/>
              <a:rect r="r" b="b" t="t" l="l"/>
              <a:pathLst>
                <a:path h="408622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086225"/>
                  </a:lnTo>
                  <a:lnTo>
                    <a:pt x="0" y="40862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" r="0" b="-3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7994" y="3682901"/>
            <a:ext cx="13631912" cy="863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b="true" sz="5062">
                <a:solidFill>
                  <a:srgbClr val="5B6E8C"/>
                </a:solidFill>
                <a:latin typeface="Arimo Bold"/>
                <a:ea typeface="Arimo Bold"/>
                <a:cs typeface="Arimo Bold"/>
                <a:sym typeface="Arimo Bold"/>
              </a:rPr>
              <a:t>Every Creator Deserves a Marketing Team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853231" y="4909394"/>
            <a:ext cx="5370016" cy="3226296"/>
            <a:chOff x="0" y="0"/>
            <a:chExt cx="7160022" cy="430172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350" y="6350"/>
              <a:ext cx="7147306" cy="4289044"/>
            </a:xfrm>
            <a:custGeom>
              <a:avLst/>
              <a:gdLst/>
              <a:ahLst/>
              <a:cxnLst/>
              <a:rect r="r" b="b" t="t" l="l"/>
              <a:pathLst>
                <a:path h="4289044" w="7147306">
                  <a:moveTo>
                    <a:pt x="0" y="137287"/>
                  </a:moveTo>
                  <a:cubicBezTo>
                    <a:pt x="0" y="61468"/>
                    <a:pt x="61595" y="0"/>
                    <a:pt x="137414" y="0"/>
                  </a:cubicBezTo>
                  <a:lnTo>
                    <a:pt x="7009892" y="0"/>
                  </a:lnTo>
                  <a:cubicBezTo>
                    <a:pt x="7085838" y="0"/>
                    <a:pt x="7147306" y="61468"/>
                    <a:pt x="7147306" y="137287"/>
                  </a:cubicBezTo>
                  <a:lnTo>
                    <a:pt x="7147306" y="4151757"/>
                  </a:lnTo>
                  <a:cubicBezTo>
                    <a:pt x="7147306" y="4227576"/>
                    <a:pt x="7085711" y="4289044"/>
                    <a:pt x="7009892" y="4289044"/>
                  </a:cubicBezTo>
                  <a:lnTo>
                    <a:pt x="137414" y="4289044"/>
                  </a:lnTo>
                  <a:cubicBezTo>
                    <a:pt x="61595" y="4289044"/>
                    <a:pt x="0" y="4227576"/>
                    <a:pt x="0" y="4151757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60006" cy="4301744"/>
            </a:xfrm>
            <a:custGeom>
              <a:avLst/>
              <a:gdLst/>
              <a:ahLst/>
              <a:cxnLst/>
              <a:rect r="r" b="b" t="t" l="l"/>
              <a:pathLst>
                <a:path h="4301744" w="7160006">
                  <a:moveTo>
                    <a:pt x="0" y="143637"/>
                  </a:moveTo>
                  <a:cubicBezTo>
                    <a:pt x="0" y="64262"/>
                    <a:pt x="64389" y="0"/>
                    <a:pt x="143764" y="0"/>
                  </a:cubicBezTo>
                  <a:lnTo>
                    <a:pt x="7016242" y="0"/>
                  </a:lnTo>
                  <a:lnTo>
                    <a:pt x="7016242" y="6350"/>
                  </a:lnTo>
                  <a:lnTo>
                    <a:pt x="7016242" y="0"/>
                  </a:lnTo>
                  <a:cubicBezTo>
                    <a:pt x="7095617" y="0"/>
                    <a:pt x="7160006" y="64262"/>
                    <a:pt x="7160006" y="143637"/>
                  </a:cubicBezTo>
                  <a:lnTo>
                    <a:pt x="7153656" y="143637"/>
                  </a:lnTo>
                  <a:lnTo>
                    <a:pt x="7160006" y="143637"/>
                  </a:lnTo>
                  <a:lnTo>
                    <a:pt x="7160006" y="4158107"/>
                  </a:lnTo>
                  <a:lnTo>
                    <a:pt x="7153656" y="4158107"/>
                  </a:lnTo>
                  <a:lnTo>
                    <a:pt x="7160006" y="4158107"/>
                  </a:lnTo>
                  <a:cubicBezTo>
                    <a:pt x="7160006" y="4237482"/>
                    <a:pt x="7095617" y="4301744"/>
                    <a:pt x="7016242" y="4301744"/>
                  </a:cubicBezTo>
                  <a:lnTo>
                    <a:pt x="7016242" y="4295394"/>
                  </a:lnTo>
                  <a:lnTo>
                    <a:pt x="7016242" y="4301744"/>
                  </a:lnTo>
                  <a:lnTo>
                    <a:pt x="143764" y="4301744"/>
                  </a:lnTo>
                  <a:lnTo>
                    <a:pt x="143764" y="4295394"/>
                  </a:lnTo>
                  <a:lnTo>
                    <a:pt x="143764" y="4301744"/>
                  </a:lnTo>
                  <a:cubicBezTo>
                    <a:pt x="64389" y="4301744"/>
                    <a:pt x="0" y="4237482"/>
                    <a:pt x="0" y="4158107"/>
                  </a:cubicBezTo>
                  <a:lnTo>
                    <a:pt x="0" y="143637"/>
                  </a:lnTo>
                  <a:lnTo>
                    <a:pt x="6350" y="143637"/>
                  </a:lnTo>
                  <a:lnTo>
                    <a:pt x="0" y="143637"/>
                  </a:lnTo>
                  <a:moveTo>
                    <a:pt x="12700" y="143637"/>
                  </a:moveTo>
                  <a:lnTo>
                    <a:pt x="12700" y="4158107"/>
                  </a:lnTo>
                  <a:lnTo>
                    <a:pt x="6350" y="4158107"/>
                  </a:lnTo>
                  <a:lnTo>
                    <a:pt x="12700" y="4158107"/>
                  </a:lnTo>
                  <a:cubicBezTo>
                    <a:pt x="12700" y="4230370"/>
                    <a:pt x="71374" y="4289044"/>
                    <a:pt x="143764" y="4289044"/>
                  </a:cubicBezTo>
                  <a:lnTo>
                    <a:pt x="7016242" y="4289044"/>
                  </a:lnTo>
                  <a:cubicBezTo>
                    <a:pt x="7088632" y="4289044"/>
                    <a:pt x="7147306" y="4230370"/>
                    <a:pt x="7147306" y="4158107"/>
                  </a:cubicBezTo>
                  <a:lnTo>
                    <a:pt x="7147306" y="143637"/>
                  </a:lnTo>
                  <a:cubicBezTo>
                    <a:pt x="7147306" y="71374"/>
                    <a:pt x="7088632" y="12700"/>
                    <a:pt x="7016242" y="12700"/>
                  </a:cubicBezTo>
                  <a:lnTo>
                    <a:pt x="143764" y="12700"/>
                  </a:lnTo>
                  <a:lnTo>
                    <a:pt x="143764" y="6350"/>
                  </a:lnTo>
                  <a:lnTo>
                    <a:pt x="143764" y="12700"/>
                  </a:lnTo>
                  <a:cubicBezTo>
                    <a:pt x="71374" y="12700"/>
                    <a:pt x="12700" y="71374"/>
                    <a:pt x="12700" y="143637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12639" y="5168801"/>
            <a:ext cx="735509" cy="735509"/>
            <a:chOff x="0" y="0"/>
            <a:chExt cx="980678" cy="9806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0694" cy="980694"/>
            </a:xfrm>
            <a:custGeom>
              <a:avLst/>
              <a:gdLst/>
              <a:ahLst/>
              <a:cxnLst/>
              <a:rect r="r" b="b" t="t" l="l"/>
              <a:pathLst>
                <a:path h="980694" w="980694">
                  <a:moveTo>
                    <a:pt x="0" y="490347"/>
                  </a:moveTo>
                  <a:cubicBezTo>
                    <a:pt x="0" y="219583"/>
                    <a:pt x="219583" y="0"/>
                    <a:pt x="490347" y="0"/>
                  </a:cubicBezTo>
                  <a:cubicBezTo>
                    <a:pt x="761111" y="0"/>
                    <a:pt x="980694" y="219583"/>
                    <a:pt x="980694" y="490347"/>
                  </a:cubicBezTo>
                  <a:cubicBezTo>
                    <a:pt x="980694" y="761111"/>
                    <a:pt x="761111" y="980694"/>
                    <a:pt x="490347" y="980694"/>
                  </a:cubicBezTo>
                  <a:cubicBezTo>
                    <a:pt x="219583" y="980694"/>
                    <a:pt x="0" y="761111"/>
                    <a:pt x="0" y="490347"/>
                  </a:cubicBezTo>
                  <a:close/>
                </a:path>
              </a:pathLst>
            </a:custGeom>
            <a:solidFill>
              <a:srgbClr val="243F6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1314896" y="5371059"/>
            <a:ext cx="330845" cy="330845"/>
          </a:xfrm>
          <a:custGeom>
            <a:avLst/>
            <a:gdLst/>
            <a:ahLst/>
            <a:cxnLst/>
            <a:rect r="r" b="b" t="t" l="l"/>
            <a:pathLst>
              <a:path h="330845" w="330845">
                <a:moveTo>
                  <a:pt x="0" y="0"/>
                </a:moveTo>
                <a:lnTo>
                  <a:pt x="330845" y="0"/>
                </a:lnTo>
                <a:lnTo>
                  <a:pt x="330845" y="330845"/>
                </a:lnTo>
                <a:lnTo>
                  <a:pt x="0" y="3308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1428" r="0" b="-31428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12639" y="6120854"/>
            <a:ext cx="3225850" cy="43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Our Vision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12639" y="6595021"/>
            <a:ext cx="4851201" cy="1281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A world where every creator has access to professional marketing powered by AI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458842" y="4909394"/>
            <a:ext cx="5370165" cy="3226296"/>
            <a:chOff x="0" y="0"/>
            <a:chExt cx="7160220" cy="43017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7147433" cy="4289044"/>
            </a:xfrm>
            <a:custGeom>
              <a:avLst/>
              <a:gdLst/>
              <a:ahLst/>
              <a:cxnLst/>
              <a:rect r="r" b="b" t="t" l="l"/>
              <a:pathLst>
                <a:path h="4289044" w="7147433">
                  <a:moveTo>
                    <a:pt x="0" y="137287"/>
                  </a:moveTo>
                  <a:cubicBezTo>
                    <a:pt x="0" y="61468"/>
                    <a:pt x="61595" y="0"/>
                    <a:pt x="137414" y="0"/>
                  </a:cubicBezTo>
                  <a:lnTo>
                    <a:pt x="7010019" y="0"/>
                  </a:lnTo>
                  <a:cubicBezTo>
                    <a:pt x="7085964" y="0"/>
                    <a:pt x="7147433" y="61468"/>
                    <a:pt x="7147433" y="137287"/>
                  </a:cubicBezTo>
                  <a:lnTo>
                    <a:pt x="7147433" y="4151757"/>
                  </a:lnTo>
                  <a:cubicBezTo>
                    <a:pt x="7147433" y="4227576"/>
                    <a:pt x="7085837" y="4289044"/>
                    <a:pt x="7010019" y="4289044"/>
                  </a:cubicBezTo>
                  <a:lnTo>
                    <a:pt x="137414" y="4289044"/>
                  </a:lnTo>
                  <a:cubicBezTo>
                    <a:pt x="61595" y="4289044"/>
                    <a:pt x="0" y="4227576"/>
                    <a:pt x="0" y="4151757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60133" cy="4301744"/>
            </a:xfrm>
            <a:custGeom>
              <a:avLst/>
              <a:gdLst/>
              <a:ahLst/>
              <a:cxnLst/>
              <a:rect r="r" b="b" t="t" l="l"/>
              <a:pathLst>
                <a:path h="4301744" w="7160133">
                  <a:moveTo>
                    <a:pt x="0" y="143637"/>
                  </a:moveTo>
                  <a:cubicBezTo>
                    <a:pt x="0" y="64262"/>
                    <a:pt x="64389" y="0"/>
                    <a:pt x="143764" y="0"/>
                  </a:cubicBezTo>
                  <a:lnTo>
                    <a:pt x="7016369" y="0"/>
                  </a:lnTo>
                  <a:lnTo>
                    <a:pt x="7016369" y="6350"/>
                  </a:lnTo>
                  <a:lnTo>
                    <a:pt x="7016369" y="0"/>
                  </a:lnTo>
                  <a:cubicBezTo>
                    <a:pt x="7095744" y="0"/>
                    <a:pt x="7160133" y="64262"/>
                    <a:pt x="7160133" y="143637"/>
                  </a:cubicBezTo>
                  <a:lnTo>
                    <a:pt x="7153783" y="143637"/>
                  </a:lnTo>
                  <a:lnTo>
                    <a:pt x="7160133" y="143637"/>
                  </a:lnTo>
                  <a:lnTo>
                    <a:pt x="7160133" y="4158107"/>
                  </a:lnTo>
                  <a:lnTo>
                    <a:pt x="7153783" y="4158107"/>
                  </a:lnTo>
                  <a:lnTo>
                    <a:pt x="7160133" y="4158107"/>
                  </a:lnTo>
                  <a:cubicBezTo>
                    <a:pt x="7160133" y="4237482"/>
                    <a:pt x="7095744" y="4301744"/>
                    <a:pt x="7016369" y="4301744"/>
                  </a:cubicBezTo>
                  <a:lnTo>
                    <a:pt x="7016369" y="4295394"/>
                  </a:lnTo>
                  <a:lnTo>
                    <a:pt x="7016369" y="4301744"/>
                  </a:lnTo>
                  <a:lnTo>
                    <a:pt x="143764" y="4301744"/>
                  </a:lnTo>
                  <a:lnTo>
                    <a:pt x="143764" y="4295394"/>
                  </a:lnTo>
                  <a:lnTo>
                    <a:pt x="143764" y="4301744"/>
                  </a:lnTo>
                  <a:cubicBezTo>
                    <a:pt x="64389" y="4301744"/>
                    <a:pt x="0" y="4237482"/>
                    <a:pt x="0" y="4158107"/>
                  </a:cubicBezTo>
                  <a:lnTo>
                    <a:pt x="0" y="143637"/>
                  </a:lnTo>
                  <a:lnTo>
                    <a:pt x="6350" y="143637"/>
                  </a:lnTo>
                  <a:lnTo>
                    <a:pt x="0" y="143637"/>
                  </a:lnTo>
                  <a:moveTo>
                    <a:pt x="12700" y="143637"/>
                  </a:moveTo>
                  <a:lnTo>
                    <a:pt x="12700" y="4158107"/>
                  </a:lnTo>
                  <a:lnTo>
                    <a:pt x="6350" y="4158107"/>
                  </a:lnTo>
                  <a:lnTo>
                    <a:pt x="12700" y="4158107"/>
                  </a:lnTo>
                  <a:cubicBezTo>
                    <a:pt x="12700" y="4230370"/>
                    <a:pt x="71374" y="4289044"/>
                    <a:pt x="143764" y="4289044"/>
                  </a:cubicBezTo>
                  <a:lnTo>
                    <a:pt x="7016369" y="4289044"/>
                  </a:lnTo>
                  <a:cubicBezTo>
                    <a:pt x="7088759" y="4289044"/>
                    <a:pt x="7147433" y="4230370"/>
                    <a:pt x="7147433" y="4158107"/>
                  </a:cubicBezTo>
                  <a:lnTo>
                    <a:pt x="7147433" y="143637"/>
                  </a:lnTo>
                  <a:cubicBezTo>
                    <a:pt x="7147560" y="71374"/>
                    <a:pt x="7088886" y="12700"/>
                    <a:pt x="7016369" y="12700"/>
                  </a:cubicBezTo>
                  <a:lnTo>
                    <a:pt x="143764" y="12700"/>
                  </a:lnTo>
                  <a:lnTo>
                    <a:pt x="143764" y="6350"/>
                  </a:lnTo>
                  <a:lnTo>
                    <a:pt x="143764" y="12700"/>
                  </a:lnTo>
                  <a:cubicBezTo>
                    <a:pt x="71374" y="12700"/>
                    <a:pt x="12700" y="71374"/>
                    <a:pt x="12700" y="143637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718250" y="5168801"/>
            <a:ext cx="735509" cy="735509"/>
            <a:chOff x="0" y="0"/>
            <a:chExt cx="980678" cy="98067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0694" cy="980694"/>
            </a:xfrm>
            <a:custGeom>
              <a:avLst/>
              <a:gdLst/>
              <a:ahLst/>
              <a:cxnLst/>
              <a:rect r="r" b="b" t="t" l="l"/>
              <a:pathLst>
                <a:path h="980694" w="980694">
                  <a:moveTo>
                    <a:pt x="0" y="490347"/>
                  </a:moveTo>
                  <a:cubicBezTo>
                    <a:pt x="0" y="219583"/>
                    <a:pt x="219583" y="0"/>
                    <a:pt x="490347" y="0"/>
                  </a:cubicBezTo>
                  <a:cubicBezTo>
                    <a:pt x="761111" y="0"/>
                    <a:pt x="980694" y="219583"/>
                    <a:pt x="980694" y="490347"/>
                  </a:cubicBezTo>
                  <a:cubicBezTo>
                    <a:pt x="980694" y="761111"/>
                    <a:pt x="761111" y="980694"/>
                    <a:pt x="490347" y="980694"/>
                  </a:cubicBezTo>
                  <a:cubicBezTo>
                    <a:pt x="219583" y="980694"/>
                    <a:pt x="0" y="761111"/>
                    <a:pt x="0" y="490347"/>
                  </a:cubicBezTo>
                  <a:close/>
                </a:path>
              </a:pathLst>
            </a:custGeom>
            <a:solidFill>
              <a:srgbClr val="243F6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18" id="18" descr="preencoded.png"/>
          <p:cNvSpPr/>
          <p:nvPr/>
        </p:nvSpPr>
        <p:spPr>
          <a:xfrm flipH="false" flipV="false" rot="0">
            <a:off x="6920507" y="5371059"/>
            <a:ext cx="330845" cy="330845"/>
          </a:xfrm>
          <a:custGeom>
            <a:avLst/>
            <a:gdLst/>
            <a:ahLst/>
            <a:cxnLst/>
            <a:rect r="r" b="b" t="t" l="l"/>
            <a:pathLst>
              <a:path h="330845" w="330845">
                <a:moveTo>
                  <a:pt x="0" y="0"/>
                </a:moveTo>
                <a:lnTo>
                  <a:pt x="330845" y="0"/>
                </a:lnTo>
                <a:lnTo>
                  <a:pt x="330845" y="330845"/>
                </a:lnTo>
                <a:lnTo>
                  <a:pt x="0" y="3308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6718250" y="6120854"/>
            <a:ext cx="3225850" cy="43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Our Mission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18250" y="6595021"/>
            <a:ext cx="4851350" cy="88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Building the first true marketing copilot that turns effort into revenue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64604" y="4909394"/>
            <a:ext cx="5370165" cy="3226296"/>
            <a:chOff x="0" y="0"/>
            <a:chExt cx="7160220" cy="43017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7147433" cy="4289044"/>
            </a:xfrm>
            <a:custGeom>
              <a:avLst/>
              <a:gdLst/>
              <a:ahLst/>
              <a:cxnLst/>
              <a:rect r="r" b="b" t="t" l="l"/>
              <a:pathLst>
                <a:path h="4289044" w="7147433">
                  <a:moveTo>
                    <a:pt x="0" y="137287"/>
                  </a:moveTo>
                  <a:cubicBezTo>
                    <a:pt x="0" y="61468"/>
                    <a:pt x="61595" y="0"/>
                    <a:pt x="137414" y="0"/>
                  </a:cubicBezTo>
                  <a:lnTo>
                    <a:pt x="7010019" y="0"/>
                  </a:lnTo>
                  <a:cubicBezTo>
                    <a:pt x="7085964" y="0"/>
                    <a:pt x="7147433" y="61468"/>
                    <a:pt x="7147433" y="137287"/>
                  </a:cubicBezTo>
                  <a:lnTo>
                    <a:pt x="7147433" y="4151757"/>
                  </a:lnTo>
                  <a:cubicBezTo>
                    <a:pt x="7147433" y="4227576"/>
                    <a:pt x="7085837" y="4289044"/>
                    <a:pt x="7010019" y="4289044"/>
                  </a:cubicBezTo>
                  <a:lnTo>
                    <a:pt x="137414" y="4289044"/>
                  </a:lnTo>
                  <a:cubicBezTo>
                    <a:pt x="61595" y="4289044"/>
                    <a:pt x="0" y="4227576"/>
                    <a:pt x="0" y="4151757"/>
                  </a:cubicBezTo>
                  <a:close/>
                </a:path>
              </a:pathLst>
            </a:custGeom>
            <a:solidFill>
              <a:srgbClr val="E6F7FF"/>
            </a:solidFill>
            <a:ln w="12700">
              <a:solidFill>
                <a:srgbClr val="000000"/>
              </a:solidFill>
            </a:ln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160133" cy="4301744"/>
            </a:xfrm>
            <a:custGeom>
              <a:avLst/>
              <a:gdLst/>
              <a:ahLst/>
              <a:cxnLst/>
              <a:rect r="r" b="b" t="t" l="l"/>
              <a:pathLst>
                <a:path h="4301744" w="7160133">
                  <a:moveTo>
                    <a:pt x="0" y="143637"/>
                  </a:moveTo>
                  <a:cubicBezTo>
                    <a:pt x="0" y="64262"/>
                    <a:pt x="64389" y="0"/>
                    <a:pt x="143764" y="0"/>
                  </a:cubicBezTo>
                  <a:lnTo>
                    <a:pt x="7016369" y="0"/>
                  </a:lnTo>
                  <a:lnTo>
                    <a:pt x="7016369" y="6350"/>
                  </a:lnTo>
                  <a:lnTo>
                    <a:pt x="7016369" y="0"/>
                  </a:lnTo>
                  <a:cubicBezTo>
                    <a:pt x="7095744" y="0"/>
                    <a:pt x="7160133" y="64262"/>
                    <a:pt x="7160133" y="143637"/>
                  </a:cubicBezTo>
                  <a:lnTo>
                    <a:pt x="7153783" y="143637"/>
                  </a:lnTo>
                  <a:lnTo>
                    <a:pt x="7160133" y="143637"/>
                  </a:lnTo>
                  <a:lnTo>
                    <a:pt x="7160133" y="4158107"/>
                  </a:lnTo>
                  <a:lnTo>
                    <a:pt x="7153783" y="4158107"/>
                  </a:lnTo>
                  <a:lnTo>
                    <a:pt x="7160133" y="4158107"/>
                  </a:lnTo>
                  <a:cubicBezTo>
                    <a:pt x="7160133" y="4237482"/>
                    <a:pt x="7095744" y="4301744"/>
                    <a:pt x="7016369" y="4301744"/>
                  </a:cubicBezTo>
                  <a:lnTo>
                    <a:pt x="7016369" y="4295394"/>
                  </a:lnTo>
                  <a:lnTo>
                    <a:pt x="7016369" y="4301744"/>
                  </a:lnTo>
                  <a:lnTo>
                    <a:pt x="143764" y="4301744"/>
                  </a:lnTo>
                  <a:lnTo>
                    <a:pt x="143764" y="4295394"/>
                  </a:lnTo>
                  <a:lnTo>
                    <a:pt x="143764" y="4301744"/>
                  </a:lnTo>
                  <a:cubicBezTo>
                    <a:pt x="64389" y="4301744"/>
                    <a:pt x="0" y="4237482"/>
                    <a:pt x="0" y="4158107"/>
                  </a:cubicBezTo>
                  <a:lnTo>
                    <a:pt x="0" y="143637"/>
                  </a:lnTo>
                  <a:lnTo>
                    <a:pt x="6350" y="143637"/>
                  </a:lnTo>
                  <a:lnTo>
                    <a:pt x="0" y="143637"/>
                  </a:lnTo>
                  <a:moveTo>
                    <a:pt x="12700" y="143637"/>
                  </a:moveTo>
                  <a:lnTo>
                    <a:pt x="12700" y="4158107"/>
                  </a:lnTo>
                  <a:lnTo>
                    <a:pt x="6350" y="4158107"/>
                  </a:lnTo>
                  <a:lnTo>
                    <a:pt x="12700" y="4158107"/>
                  </a:lnTo>
                  <a:cubicBezTo>
                    <a:pt x="12700" y="4230370"/>
                    <a:pt x="71374" y="4289044"/>
                    <a:pt x="143764" y="4289044"/>
                  </a:cubicBezTo>
                  <a:lnTo>
                    <a:pt x="7016369" y="4289044"/>
                  </a:lnTo>
                  <a:cubicBezTo>
                    <a:pt x="7088759" y="4289044"/>
                    <a:pt x="7147433" y="4230370"/>
                    <a:pt x="7147433" y="4158107"/>
                  </a:cubicBezTo>
                  <a:lnTo>
                    <a:pt x="7147433" y="143637"/>
                  </a:lnTo>
                  <a:cubicBezTo>
                    <a:pt x="7147560" y="71374"/>
                    <a:pt x="7088886" y="12700"/>
                    <a:pt x="7016369" y="12700"/>
                  </a:cubicBezTo>
                  <a:lnTo>
                    <a:pt x="143764" y="12700"/>
                  </a:lnTo>
                  <a:lnTo>
                    <a:pt x="143764" y="6350"/>
                  </a:lnTo>
                  <a:lnTo>
                    <a:pt x="143764" y="12700"/>
                  </a:lnTo>
                  <a:cubicBezTo>
                    <a:pt x="71374" y="12700"/>
                    <a:pt x="12700" y="71374"/>
                    <a:pt x="12700" y="143637"/>
                  </a:cubicBezTo>
                  <a:close/>
                </a:path>
              </a:pathLst>
            </a:custGeom>
            <a:solidFill>
              <a:srgbClr val="DFB8BC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2324010" y="5168801"/>
            <a:ext cx="735509" cy="735509"/>
            <a:chOff x="0" y="0"/>
            <a:chExt cx="980678" cy="9806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0694" cy="980694"/>
            </a:xfrm>
            <a:custGeom>
              <a:avLst/>
              <a:gdLst/>
              <a:ahLst/>
              <a:cxnLst/>
              <a:rect r="r" b="b" t="t" l="l"/>
              <a:pathLst>
                <a:path h="980694" w="980694">
                  <a:moveTo>
                    <a:pt x="0" y="490347"/>
                  </a:moveTo>
                  <a:cubicBezTo>
                    <a:pt x="0" y="219583"/>
                    <a:pt x="219583" y="0"/>
                    <a:pt x="490347" y="0"/>
                  </a:cubicBezTo>
                  <a:cubicBezTo>
                    <a:pt x="761111" y="0"/>
                    <a:pt x="980694" y="219583"/>
                    <a:pt x="980694" y="490347"/>
                  </a:cubicBezTo>
                  <a:cubicBezTo>
                    <a:pt x="980694" y="761111"/>
                    <a:pt x="761111" y="980694"/>
                    <a:pt x="490347" y="980694"/>
                  </a:cubicBezTo>
                  <a:cubicBezTo>
                    <a:pt x="219583" y="980694"/>
                    <a:pt x="0" y="761111"/>
                    <a:pt x="0" y="490347"/>
                  </a:cubicBezTo>
                  <a:close/>
                </a:path>
              </a:pathLst>
            </a:custGeom>
            <a:solidFill>
              <a:srgbClr val="243F6E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name="Freeform 26" id="26" descr="preencoded.png"/>
          <p:cNvSpPr/>
          <p:nvPr/>
        </p:nvSpPr>
        <p:spPr>
          <a:xfrm flipH="false" flipV="false" rot="0">
            <a:off x="12526267" y="5371059"/>
            <a:ext cx="330845" cy="330845"/>
          </a:xfrm>
          <a:custGeom>
            <a:avLst/>
            <a:gdLst/>
            <a:ahLst/>
            <a:cxnLst/>
            <a:rect r="r" b="b" t="t" l="l"/>
            <a:pathLst>
              <a:path h="330845" w="330845">
                <a:moveTo>
                  <a:pt x="0" y="0"/>
                </a:moveTo>
                <a:lnTo>
                  <a:pt x="330845" y="0"/>
                </a:lnTo>
                <a:lnTo>
                  <a:pt x="330845" y="330845"/>
                </a:lnTo>
                <a:lnTo>
                  <a:pt x="0" y="3308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8571" t="0" r="-18571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2324010" y="6120854"/>
            <a:ext cx="3225850" cy="43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3B3535"/>
                </a:solidFill>
                <a:latin typeface="Arimo Bold"/>
                <a:ea typeface="Arimo Bold"/>
                <a:cs typeface="Arimo Bold"/>
                <a:sym typeface="Arimo Bold"/>
              </a:rPr>
              <a:t>Join Us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24010" y="6595021"/>
            <a:ext cx="4851350" cy="889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B3535"/>
                </a:solidFill>
                <a:latin typeface="Arimo"/>
                <a:ea typeface="Arimo"/>
                <a:cs typeface="Arimo"/>
                <a:sym typeface="Arimo"/>
              </a:rPr>
              <a:t>We're taking the first step toward that future — and we'd love your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DAG7bOTyWqE</dc:identifier>
  <dcterms:modified xsi:type="dcterms:W3CDTF">2011-08-01T06:04:30Z</dcterms:modified>
  <cp:revision>1</cp:revision>
  <dc:title>From-Posts-to-Paying-Customers-2.pptx</dc:title>
</cp:coreProperties>
</file>